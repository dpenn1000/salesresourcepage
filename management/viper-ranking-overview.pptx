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Viper is our weekly rep ranking. Everyone gets a 0 to 100 score, it converts to a rank of 1 to 5, and the rank decides who gets the best company leads. In one line, it rewards turning the appointments we hand you into installed jobs.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this out up front. The rank scale flipped. The old system used 1 as best and 3 as worst. Viper runs 1 to 5, and now 5 is the best, 1 is the lowest. Higher number, higher rank. Worth repeating, because everyone is used to the old direction and will read it backwards out of habit.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rank matters. Rank no longer sets your schedule or shifts. It drives your leads: how many you get, how good they are, and whether your appointments get priority on confirmation. The best leads go to the best closers. So this isn't a report card. Your performance sets your rank, and your rank sets your leads. On confirmation priority: appointments are dispatched by the Confirmation Formula on the job, which combines confirmation status and gap time. 1 = next-day confirmed, 2 = 2-plus-day confirmed, 3 = same-day confirmed, 4 = same-day unconfirmed, 5 = next-day unconfirmed, 6 = 2-plus-day unconfirmed. Appointments sort low to high, then by lead score. Reps sort by rank, then Viper score. So the system matches the top-priority appointments to the top-performing reps.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appointments are matched to reps. Every job carries a Confirmation Formula combining confirmation status and gap time, ranked 1 to 6: 1 next-day confirmed, 2 is 2-plus-day confirmed, 3 same-day confirmed, 4 same-day unconfirmed, 5 next-day unconfirmed, 6 is 2-plus-day unconfirmed. Confirmed always beats unconfirmed. Appointments sort 1 to 6, ties broken by lead score. Reps sort by rank, ties broken by Viper score. The two lists pair top to top, so the highest-priority appointments go to the highest-ranked reps. It's mechanical and merit-based, not favoritism.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measures, each weighted, adding to 100. Effective rate 50, pull-through 30, attachment 10, pricing 5, self-gen 5. The weight is how much each one moves your score.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measure is a simple ratio, then scored against its own target and weighted. The target is the level that earns full marks: a 30 percent effective rate, for example, maxes that metric. Effective rate: approved contracts over the appointments we gave you. Pull-through: of the deals you signed, how many have an install date, tied per contract, not all installs over all contracts. Attachment: roof and battery add-ons over solar contracts, counted by category, so two batteries still count once. Pricing: contracts at target price over all contracts. Self-gen: self-gen and referral deals over all your contracts.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score adds up. Each metric has a target, the level that earns full marks: effective 30 percent, pull-through 80, attachment 30, pricing 100, self-gen 75. Your rate is divided by its target and capped at 100 percent, then multiplied by its weight. Add the five and you get your 0-to-100 Viper score. So hitting a metric's target earns its full weight. For example, 26 percent effective against a 30 percent target is 87 percent of the way, times the 50 weight, about 43 points. This is the math that reconciles to the live scores.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80/20 isn't a separate rule, it's the five weights grouped. Effective plus pull-through is 80, and both are about company leads: convert and install. The other three are 20. So 80 percent of the score is one idea: turn our appointments into installs.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ground rules. One, company leads only: the score is about what we hand you; self-gen and referral only matter for their own 5 percent. Two, dispatched appointments: every appointment we gave you, minus DQs and verified homeowner no-shows. A rep no-show or a cancel at the door still counts against the rep. Three, it's a level playing field. Viper removed the lanes, so you're ranked against every rep in the regions you run, regardless of sales channel.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far back, and why. Effective rate looks at the last 90 days but stops two weeks short of today. A deal you just signed hasn't been approved yet, approval lags about a week, and the newest days bounce around too much to judge fairly. Pull-through looks back a full year but stops four months short, because an install takes time and every deal deserves a fair window to install before we measure it. Everything else is a simple last-90-days. New reps under six months are left out of pull-through entirely, since they haven't had a fair window yet.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your score becomes your rank. Your pool is your region, no sales channel, everyone in the region together. Inside it, the highest scores earn the highest ranks. Regionals and above who cover several regions keep the best rank they earn. It rebalances weekly, so a 4 means the same thing across the company. For example, a 79 lands in the rank-4 tier.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Most reps just earn their rank. A few get a floor or a cap. Hall of Fame, 1,000 or more career installs, is always a 5 and isn't counted in the rank-5 math. DM and above floor at 4. ADM, training, and assistant managers floor at 3. New hires floor at 3 for their first 40 appointments or 8 months. Low volume, too few at-bats for the channel, caps you at 4. Key point: a floor is a minimum, not a ceiling. Anyone can earn higher on merit; only Hall of Fame is automatic.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rep from last week, name withheld. Effective rate 26 against a 30 target, so nearly maxed. Pull-through 78 against 80, also strong. Those two are 80 percent of the score, and being near target on both is what carries them. Attachment is only 4 against a 30 target, the clear gap. Pricing 79, self-gen 22. Run it through the weights and it lands at 79, a rank 4, up from a 3 the week before. The dates at the bottom are the actual windows from this run, the timelines from the earlier slide made concrete.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new system is steadier. Pull-through: a contract counts once its project has an install date, and ops moves those dates for delays, not cancellations, so a short window turned ops timing into score swings. A full year, with the last four months set aside, gives a true rate. Effective rate: we dropped the heavy 30-day, monthly-ranked approach for a 90-day average refreshed weekly, so a rough patch doesn't tank you and a real turnaround shows up fast. Weighting: close rate used to be nearly two-thirds of the score; now it's spread across five measures with floors for new and low-volume reps. And sit rate is no longer scored on its own. The result is more consistency and a fair, responsive path for reps to climb.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
            <a:ext cx="10972800" cy="502920"/>
          </a:xfrm>
          <a:prstGeom prst="rect">
            <a:avLst/>
          </a:prstGeom>
          <a:noFill/>
        </p:spPr>
        <p:txBody>
          <a:bodyPr wrap="square" anchor="ctr" lIns="0" rIns="0" tIns="0" bIns="0">
            <a:spAutoFit/>
          </a:bodyPr>
          <a:lstStyle/>
          <a:p>
            <a:pPr algn="l"/>
            <a:r>
              <a:rPr sz="3000" b="1">
                <a:solidFill>
                  <a:srgbClr val="5EBA28"/>
                </a:solidFill>
                <a:latin typeface="Segoe UI"/>
              </a:rPr>
              <a:t>VIPER</a:t>
            </a:r>
            <a:r>
              <a:rPr sz="3000" b="0">
                <a:solidFill>
                  <a:srgbClr val="FFFFFF"/>
                </a:solidFill>
                <a:latin typeface="Segoe UI"/>
              </a:rPr>
              <a:t>  rep ranking</a:t>
            </a:r>
          </a:p>
        </p:txBody>
      </p:sp>
      <p:sp>
        <p:nvSpPr>
          <p:cNvPr id="6" name="TextBox 5"/>
          <p:cNvSpPr txBox="1"/>
          <p:nvPr/>
        </p:nvSpPr>
        <p:spPr>
          <a:xfrm>
            <a:off x="658368" y="713232"/>
            <a:ext cx="10972800" cy="365760"/>
          </a:xfrm>
          <a:prstGeom prst="rect">
            <a:avLst/>
          </a:prstGeom>
          <a:noFill/>
        </p:spPr>
        <p:txBody>
          <a:bodyPr wrap="square" anchor="t" lIns="0" rIns="0" tIns="0" bIns="0">
            <a:spAutoFit/>
          </a:bodyPr>
          <a:lstStyle/>
          <a:p>
            <a:pPr algn="l"/>
            <a:r>
              <a:rPr sz="1400" b="0">
                <a:solidFill>
                  <a:srgbClr val="C9D2C4"/>
                </a:solidFill>
                <a:latin typeface="Segoe UI"/>
              </a:rPr>
              <a:t>A weekly score that decides who gets the best leads</a:t>
            </a:r>
          </a:p>
        </p:txBody>
      </p:sp>
      <p:sp>
        <p:nvSpPr>
          <p:cNvPr id="7" name="TextBox 6"/>
          <p:cNvSpPr txBox="1"/>
          <p:nvPr/>
        </p:nvSpPr>
        <p:spPr>
          <a:xfrm>
            <a:off x="640080" y="1691640"/>
            <a:ext cx="10972800" cy="1280160"/>
          </a:xfrm>
          <a:prstGeom prst="rect">
            <a:avLst/>
          </a:prstGeom>
          <a:noFill/>
        </p:spPr>
        <p:txBody>
          <a:bodyPr wrap="square" anchor="t" lIns="0" rIns="0" tIns="0" bIns="0">
            <a:spAutoFit/>
          </a:bodyPr>
          <a:lstStyle/>
          <a:p>
            <a:pPr algn="l">
              <a:spcAft>
                <a:spcPts val="800"/>
              </a:spcAft>
            </a:pPr>
            <a:r>
              <a:rPr sz="2300" b="1">
                <a:solidFill>
                  <a:srgbClr val="1A2332"/>
                </a:solidFill>
                <a:latin typeface="Segoe UI"/>
              </a:rPr>
              <a:t>Every rep gets a score from 0 to 100, every week.</a:t>
            </a:r>
          </a:p>
          <a:p>
            <a:pPr algn="l">
              <a:spcAft>
                <a:spcPts val="800"/>
              </a:spcAft>
            </a:pPr>
            <a:r>
              <a:rPr sz="1700" b="0">
                <a:solidFill>
                  <a:srgbClr val="5E665E"/>
                </a:solidFill>
                <a:latin typeface="Segoe UI"/>
              </a:rPr>
              <a:t>The score sets a rank from 1 to 5, where 5 is the best. The rank decides who gets the best leads.</a:t>
            </a:r>
          </a:p>
        </p:txBody>
      </p:sp>
      <p:sp>
        <p:nvSpPr>
          <p:cNvPr id="8" name="Rounded Rectangle 7"/>
          <p:cNvSpPr/>
          <p:nvPr/>
        </p:nvSpPr>
        <p:spPr>
          <a:xfrm>
            <a:off x="640080" y="3429000"/>
            <a:ext cx="3291840" cy="1143000"/>
          </a:xfrm>
          <a:prstGeom prst="roundRect">
            <a:avLst/>
          </a:prstGeom>
          <a:solidFill>
            <a:srgbClr val="EFF1EC"/>
          </a:solidFill>
          <a:ln w="12700">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429000"/>
            <a:ext cx="3291840" cy="1143000"/>
          </a:xfrm>
          <a:prstGeom prst="rect">
            <a:avLst/>
          </a:prstGeom>
          <a:noFill/>
        </p:spPr>
        <p:txBody>
          <a:bodyPr wrap="square" anchor="ctr" lIns="0" rIns="0" tIns="0" bIns="0">
            <a:spAutoFit/>
          </a:bodyPr>
          <a:lstStyle/>
          <a:p>
            <a:pPr algn="ctr"/>
            <a:r>
              <a:rPr sz="1600" b="1">
                <a:solidFill>
                  <a:srgbClr val="1A2332"/>
                </a:solidFill>
                <a:latin typeface="Segoe UI"/>
              </a:rPr>
              <a:t>Weekly score</a:t>
            </a:r>
          </a:p>
          <a:p>
            <a:pPr algn="ctr"/>
            <a:r>
              <a:rPr sz="1600" b="1">
                <a:solidFill>
                  <a:srgbClr val="1A2332"/>
                </a:solidFill>
                <a:latin typeface="Segoe UI"/>
              </a:rPr>
              <a:t>0 to 100</a:t>
            </a:r>
          </a:p>
        </p:txBody>
      </p:sp>
      <p:sp>
        <p:nvSpPr>
          <p:cNvPr id="10" name="Chevron 9"/>
          <p:cNvSpPr/>
          <p:nvPr/>
        </p:nvSpPr>
        <p:spPr>
          <a:xfrm>
            <a:off x="4005072" y="3817620"/>
            <a:ext cx="402335" cy="365760"/>
          </a:xfrm>
          <a:prstGeom prst="chevron">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80560" y="3429000"/>
            <a:ext cx="3291840" cy="1143000"/>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3429000"/>
            <a:ext cx="3291840" cy="1143000"/>
          </a:xfrm>
          <a:prstGeom prst="rect">
            <a:avLst/>
          </a:prstGeom>
          <a:noFill/>
        </p:spPr>
        <p:txBody>
          <a:bodyPr wrap="square" anchor="ctr" lIns="0" rIns="0" tIns="0" bIns="0">
            <a:spAutoFit/>
          </a:bodyPr>
          <a:lstStyle/>
          <a:p>
            <a:pPr algn="ctr"/>
            <a:r>
              <a:rPr sz="1600" b="1">
                <a:solidFill>
                  <a:srgbClr val="FFFFFF"/>
                </a:solidFill>
                <a:latin typeface="Segoe UI"/>
              </a:rPr>
              <a:t>Rank</a:t>
            </a:r>
          </a:p>
          <a:p>
            <a:pPr algn="ctr"/>
            <a:r>
              <a:rPr sz="1600" b="1">
                <a:solidFill>
                  <a:srgbClr val="FFFFFF"/>
                </a:solidFill>
                <a:latin typeface="Segoe UI"/>
              </a:rPr>
              <a:t>1 to 5</a:t>
            </a:r>
          </a:p>
        </p:txBody>
      </p:sp>
      <p:sp>
        <p:nvSpPr>
          <p:cNvPr id="13" name="Chevron 12"/>
          <p:cNvSpPr/>
          <p:nvPr/>
        </p:nvSpPr>
        <p:spPr>
          <a:xfrm>
            <a:off x="7845552" y="3817620"/>
            <a:ext cx="402335" cy="365760"/>
          </a:xfrm>
          <a:prstGeom prst="chevron">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321040" y="3429000"/>
            <a:ext cx="3291840" cy="1143000"/>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3429000"/>
            <a:ext cx="3291840" cy="1143000"/>
          </a:xfrm>
          <a:prstGeom prst="rect">
            <a:avLst/>
          </a:prstGeom>
          <a:noFill/>
        </p:spPr>
        <p:txBody>
          <a:bodyPr wrap="square" anchor="ctr" lIns="0" rIns="0" tIns="0" bIns="0">
            <a:spAutoFit/>
          </a:bodyPr>
          <a:lstStyle/>
          <a:p>
            <a:pPr algn="ctr"/>
            <a:r>
              <a:rPr sz="1600" b="1">
                <a:solidFill>
                  <a:srgbClr val="FFFFFF"/>
                </a:solidFill>
                <a:latin typeface="Segoe UI"/>
              </a:rPr>
              <a:t>Better rank,</a:t>
            </a:r>
          </a:p>
          <a:p>
            <a:pPr algn="ctr"/>
            <a:r>
              <a:rPr sz="1600" b="1">
                <a:solidFill>
                  <a:srgbClr val="FFFFFF"/>
                </a:solidFill>
                <a:latin typeface="Segoe UI"/>
              </a:rPr>
              <a:t>better leads</a:t>
            </a:r>
          </a:p>
        </p:txBody>
      </p:sp>
      <p:sp>
        <p:nvSpPr>
          <p:cNvPr id="16" name="TextBox 15"/>
          <p:cNvSpPr txBox="1"/>
          <p:nvPr/>
        </p:nvSpPr>
        <p:spPr>
          <a:xfrm>
            <a:off x="640080" y="5029200"/>
            <a:ext cx="10972800" cy="1188720"/>
          </a:xfrm>
          <a:prstGeom prst="rect">
            <a:avLst/>
          </a:prstGeom>
          <a:noFill/>
        </p:spPr>
        <p:txBody>
          <a:bodyPr wrap="square" anchor="t" lIns="0" rIns="0" tIns="0" bIns="0">
            <a:spAutoFit/>
          </a:bodyPr>
          <a:lstStyle/>
          <a:p>
            <a:pPr algn="l">
              <a:spcAft>
                <a:spcPts val="800"/>
              </a:spcAft>
            </a:pPr>
            <a:r>
              <a:rPr sz="1500" b="0">
                <a:solidFill>
                  <a:srgbClr val="5E665E"/>
                </a:solidFill>
                <a:latin typeface="Segoe UI"/>
              </a:rPr>
              <a:t>What it rewards, in one line:</a:t>
            </a:r>
          </a:p>
          <a:p>
            <a:pPr algn="l">
              <a:spcAft>
                <a:spcPts val="800"/>
              </a:spcAft>
            </a:pPr>
            <a:r>
              <a:rPr sz="2100" b="1">
                <a:solidFill>
                  <a:srgbClr val="4F9D28"/>
                </a:solidFill>
                <a:latin typeface="Segoe UI"/>
              </a:rPr>
              <a:t>Take the appointments we give you and turn them into installed jobs.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Rank 5 is now the best</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The scale flipped. The old system had 1 as best and 3 as worst.</a:t>
            </a:r>
          </a:p>
        </p:txBody>
      </p:sp>
      <p:sp>
        <p:nvSpPr>
          <p:cNvPr id="7" name="TextBox 6"/>
          <p:cNvSpPr txBox="1"/>
          <p:nvPr/>
        </p:nvSpPr>
        <p:spPr>
          <a:xfrm>
            <a:off x="822960" y="2286000"/>
            <a:ext cx="1737360" cy="822960"/>
          </a:xfrm>
          <a:prstGeom prst="rect">
            <a:avLst/>
          </a:prstGeom>
          <a:noFill/>
        </p:spPr>
        <p:txBody>
          <a:bodyPr wrap="square" anchor="ctr" lIns="0" rIns="0" tIns="0" bIns="0">
            <a:spAutoFit/>
          </a:bodyPr>
          <a:lstStyle/>
          <a:p>
            <a:pPr algn="l"/>
            <a:r>
              <a:rPr sz="1400" b="1">
                <a:solidFill>
                  <a:srgbClr val="5E665E"/>
                </a:solidFill>
                <a:latin typeface="Segoe UI"/>
              </a:rPr>
              <a:t>BEFORE</a:t>
            </a:r>
          </a:p>
        </p:txBody>
      </p:sp>
      <p:sp>
        <p:nvSpPr>
          <p:cNvPr id="8" name="Rounded Rectangle 7"/>
          <p:cNvSpPr/>
          <p:nvPr/>
        </p:nvSpPr>
        <p:spPr>
          <a:xfrm>
            <a:off x="2743200" y="2286000"/>
            <a:ext cx="1280160" cy="822960"/>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2286000"/>
            <a:ext cx="1280160" cy="822960"/>
          </a:xfrm>
          <a:prstGeom prst="rect">
            <a:avLst/>
          </a:prstGeom>
          <a:noFill/>
        </p:spPr>
        <p:txBody>
          <a:bodyPr wrap="square" anchor="ctr" lIns="0" rIns="0" tIns="0" bIns="0">
            <a:spAutoFit/>
          </a:bodyPr>
          <a:lstStyle/>
          <a:p>
            <a:pPr algn="ctr"/>
            <a:r>
              <a:rPr sz="2400" b="1">
                <a:solidFill>
                  <a:srgbClr val="FFFFFF"/>
                </a:solidFill>
                <a:latin typeface="Segoe UI"/>
              </a:rPr>
              <a:t>1</a:t>
            </a:r>
          </a:p>
        </p:txBody>
      </p:sp>
      <p:sp>
        <p:nvSpPr>
          <p:cNvPr id="10" name="Rounded Rectangle 9"/>
          <p:cNvSpPr/>
          <p:nvPr/>
        </p:nvSpPr>
        <p:spPr>
          <a:xfrm>
            <a:off x="4251960" y="2286000"/>
            <a:ext cx="1280160" cy="822960"/>
          </a:xfrm>
          <a:prstGeom prst="roundRect">
            <a:avLst/>
          </a:prstGeom>
          <a:solidFill>
            <a:srgbClr val="9AC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2286000"/>
            <a:ext cx="1280160" cy="822960"/>
          </a:xfrm>
          <a:prstGeom prst="rect">
            <a:avLst/>
          </a:prstGeom>
          <a:noFill/>
        </p:spPr>
        <p:txBody>
          <a:bodyPr wrap="square" anchor="ctr" lIns="0" rIns="0" tIns="0" bIns="0">
            <a:spAutoFit/>
          </a:bodyPr>
          <a:lstStyle/>
          <a:p>
            <a:pPr algn="ctr"/>
            <a:r>
              <a:rPr sz="2400" b="1">
                <a:solidFill>
                  <a:srgbClr val="FFFFFF"/>
                </a:solidFill>
                <a:latin typeface="Segoe UI"/>
              </a:rPr>
              <a:t>2</a:t>
            </a:r>
          </a:p>
        </p:txBody>
      </p:sp>
      <p:sp>
        <p:nvSpPr>
          <p:cNvPr id="12" name="Rounded Rectangle 11"/>
          <p:cNvSpPr/>
          <p:nvPr/>
        </p:nvSpPr>
        <p:spPr>
          <a:xfrm>
            <a:off x="5760720" y="2286000"/>
            <a:ext cx="1280160" cy="822960"/>
          </a:xfrm>
          <a:prstGeom prst="roundRect">
            <a:avLst/>
          </a:prstGeom>
          <a:solidFill>
            <a:srgbClr val="C2C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2286000"/>
            <a:ext cx="1280160" cy="822960"/>
          </a:xfrm>
          <a:prstGeom prst="rect">
            <a:avLst/>
          </a:prstGeom>
          <a:noFill/>
        </p:spPr>
        <p:txBody>
          <a:bodyPr wrap="square" anchor="ctr" lIns="0" rIns="0" tIns="0" bIns="0">
            <a:spAutoFit/>
          </a:bodyPr>
          <a:lstStyle/>
          <a:p>
            <a:pPr algn="ctr"/>
            <a:r>
              <a:rPr sz="2400" b="1">
                <a:solidFill>
                  <a:srgbClr val="FFFFFF"/>
                </a:solidFill>
                <a:latin typeface="Segoe UI"/>
              </a:rPr>
              <a:t>3</a:t>
            </a:r>
          </a:p>
        </p:txBody>
      </p:sp>
      <p:sp>
        <p:nvSpPr>
          <p:cNvPr id="14" name="TextBox 13"/>
          <p:cNvSpPr txBox="1"/>
          <p:nvPr/>
        </p:nvSpPr>
        <p:spPr>
          <a:xfrm>
            <a:off x="2743200" y="1956816"/>
            <a:ext cx="1280160" cy="274320"/>
          </a:xfrm>
          <a:prstGeom prst="rect">
            <a:avLst/>
          </a:prstGeom>
          <a:noFill/>
        </p:spPr>
        <p:txBody>
          <a:bodyPr wrap="square" anchor="t" lIns="0" rIns="0" tIns="0" bIns="0">
            <a:spAutoFit/>
          </a:bodyPr>
          <a:lstStyle/>
          <a:p>
            <a:pPr algn="ctr"/>
            <a:r>
              <a:rPr sz="1250" b="1">
                <a:solidFill>
                  <a:srgbClr val="4F9D28"/>
                </a:solidFill>
                <a:latin typeface="Segoe UI"/>
              </a:rPr>
              <a:t>best</a:t>
            </a:r>
          </a:p>
        </p:txBody>
      </p:sp>
      <p:sp>
        <p:nvSpPr>
          <p:cNvPr id="15" name="TextBox 14"/>
          <p:cNvSpPr txBox="1"/>
          <p:nvPr/>
        </p:nvSpPr>
        <p:spPr>
          <a:xfrm>
            <a:off x="5760720" y="1956816"/>
            <a:ext cx="1280160" cy="274320"/>
          </a:xfrm>
          <a:prstGeom prst="rect">
            <a:avLst/>
          </a:prstGeom>
          <a:noFill/>
        </p:spPr>
        <p:txBody>
          <a:bodyPr wrap="square" anchor="t" lIns="0" rIns="0" tIns="0" bIns="0">
            <a:spAutoFit/>
          </a:bodyPr>
          <a:lstStyle/>
          <a:p>
            <a:pPr algn="ctr"/>
            <a:r>
              <a:rPr sz="1250" b="1">
                <a:solidFill>
                  <a:srgbClr val="5E665E"/>
                </a:solidFill>
                <a:latin typeface="Segoe UI"/>
              </a:rPr>
              <a:t>worst</a:t>
            </a:r>
          </a:p>
        </p:txBody>
      </p:sp>
      <p:sp>
        <p:nvSpPr>
          <p:cNvPr id="16" name="TextBox 15"/>
          <p:cNvSpPr txBox="1"/>
          <p:nvPr/>
        </p:nvSpPr>
        <p:spPr>
          <a:xfrm>
            <a:off x="822960" y="3977639"/>
            <a:ext cx="1737360" cy="914400"/>
          </a:xfrm>
          <a:prstGeom prst="rect">
            <a:avLst/>
          </a:prstGeom>
          <a:noFill/>
        </p:spPr>
        <p:txBody>
          <a:bodyPr wrap="square" anchor="ctr" lIns="0" rIns="0" tIns="0" bIns="0">
            <a:spAutoFit/>
          </a:bodyPr>
          <a:lstStyle/>
          <a:p>
            <a:pPr algn="l"/>
            <a:r>
              <a:rPr sz="1400" b="1">
                <a:solidFill>
                  <a:srgbClr val="4F9D28"/>
                </a:solidFill>
                <a:latin typeface="Segoe UI"/>
              </a:rPr>
              <a:t>NOW</a:t>
            </a:r>
          </a:p>
        </p:txBody>
      </p:sp>
      <p:sp>
        <p:nvSpPr>
          <p:cNvPr id="17" name="Rounded Rectangle 16"/>
          <p:cNvSpPr/>
          <p:nvPr/>
        </p:nvSpPr>
        <p:spPr>
          <a:xfrm>
            <a:off x="2743200" y="3977639"/>
            <a:ext cx="1280160" cy="914400"/>
          </a:xfrm>
          <a:prstGeom prst="roundRect">
            <a:avLst/>
          </a:prstGeom>
          <a:solidFill>
            <a:srgbClr val="C2C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 y="3977639"/>
            <a:ext cx="1280160" cy="914400"/>
          </a:xfrm>
          <a:prstGeom prst="rect">
            <a:avLst/>
          </a:prstGeom>
          <a:noFill/>
        </p:spPr>
        <p:txBody>
          <a:bodyPr wrap="square" anchor="ctr" lIns="0" rIns="0" tIns="0" bIns="0">
            <a:spAutoFit/>
          </a:bodyPr>
          <a:lstStyle/>
          <a:p>
            <a:pPr algn="ctr"/>
            <a:r>
              <a:rPr sz="2600" b="1">
                <a:solidFill>
                  <a:srgbClr val="FFFFFF"/>
                </a:solidFill>
                <a:latin typeface="Segoe UI"/>
              </a:rPr>
              <a:t>1</a:t>
            </a:r>
          </a:p>
        </p:txBody>
      </p:sp>
      <p:sp>
        <p:nvSpPr>
          <p:cNvPr id="19" name="Rounded Rectangle 18"/>
          <p:cNvSpPr/>
          <p:nvPr/>
        </p:nvSpPr>
        <p:spPr>
          <a:xfrm>
            <a:off x="4251960" y="3977639"/>
            <a:ext cx="1280160" cy="914400"/>
          </a:xfrm>
          <a:prstGeom prst="roundRect">
            <a:avLst/>
          </a:prstGeom>
          <a:solidFill>
            <a:srgbClr val="9AC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51960" y="3977639"/>
            <a:ext cx="1280160" cy="914400"/>
          </a:xfrm>
          <a:prstGeom prst="rect">
            <a:avLst/>
          </a:prstGeom>
          <a:noFill/>
        </p:spPr>
        <p:txBody>
          <a:bodyPr wrap="square" anchor="ctr" lIns="0" rIns="0" tIns="0" bIns="0">
            <a:spAutoFit/>
          </a:bodyPr>
          <a:lstStyle/>
          <a:p>
            <a:pPr algn="ctr"/>
            <a:r>
              <a:rPr sz="2600" b="1">
                <a:solidFill>
                  <a:srgbClr val="FFFFFF"/>
                </a:solidFill>
                <a:latin typeface="Segoe UI"/>
              </a:rPr>
              <a:t>2</a:t>
            </a:r>
          </a:p>
        </p:txBody>
      </p:sp>
      <p:sp>
        <p:nvSpPr>
          <p:cNvPr id="21" name="Rounded Rectangle 20"/>
          <p:cNvSpPr/>
          <p:nvPr/>
        </p:nvSpPr>
        <p:spPr>
          <a:xfrm>
            <a:off x="5760720" y="3977639"/>
            <a:ext cx="1280160" cy="914400"/>
          </a:xfrm>
          <a:prstGeom prst="roundRect">
            <a:avLst/>
          </a:prstGeom>
          <a:solidFill>
            <a:srgbClr val="7E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3977639"/>
            <a:ext cx="1280160" cy="914400"/>
          </a:xfrm>
          <a:prstGeom prst="rect">
            <a:avLst/>
          </a:prstGeom>
          <a:noFill/>
        </p:spPr>
        <p:txBody>
          <a:bodyPr wrap="square" anchor="ctr" lIns="0" rIns="0" tIns="0" bIns="0">
            <a:spAutoFit/>
          </a:bodyPr>
          <a:lstStyle/>
          <a:p>
            <a:pPr algn="ctr"/>
            <a:r>
              <a:rPr sz="2600" b="1">
                <a:solidFill>
                  <a:srgbClr val="FFFFFF"/>
                </a:solidFill>
                <a:latin typeface="Segoe UI"/>
              </a:rPr>
              <a:t>3</a:t>
            </a:r>
          </a:p>
        </p:txBody>
      </p:sp>
      <p:sp>
        <p:nvSpPr>
          <p:cNvPr id="23" name="Rounded Rectangle 22"/>
          <p:cNvSpPr/>
          <p:nvPr/>
        </p:nvSpPr>
        <p:spPr>
          <a:xfrm>
            <a:off x="7269479" y="3977639"/>
            <a:ext cx="1280160" cy="914400"/>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9479" y="3977639"/>
            <a:ext cx="1280160" cy="914400"/>
          </a:xfrm>
          <a:prstGeom prst="rect">
            <a:avLst/>
          </a:prstGeom>
          <a:noFill/>
        </p:spPr>
        <p:txBody>
          <a:bodyPr wrap="square" anchor="ctr" lIns="0" rIns="0" tIns="0" bIns="0">
            <a:spAutoFit/>
          </a:bodyPr>
          <a:lstStyle/>
          <a:p>
            <a:pPr algn="ctr"/>
            <a:r>
              <a:rPr sz="2600" b="1">
                <a:solidFill>
                  <a:srgbClr val="FFFFFF"/>
                </a:solidFill>
                <a:latin typeface="Segoe UI"/>
              </a:rPr>
              <a:t>4</a:t>
            </a:r>
          </a:p>
        </p:txBody>
      </p:sp>
      <p:sp>
        <p:nvSpPr>
          <p:cNvPr id="25" name="Rounded Rectangle 24"/>
          <p:cNvSpPr/>
          <p:nvPr/>
        </p:nvSpPr>
        <p:spPr>
          <a:xfrm>
            <a:off x="8778240" y="3977639"/>
            <a:ext cx="1280160" cy="914400"/>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0" y="3977639"/>
            <a:ext cx="1280160" cy="914400"/>
          </a:xfrm>
          <a:prstGeom prst="rect">
            <a:avLst/>
          </a:prstGeom>
          <a:noFill/>
        </p:spPr>
        <p:txBody>
          <a:bodyPr wrap="square" anchor="ctr" lIns="0" rIns="0" tIns="0" bIns="0">
            <a:spAutoFit/>
          </a:bodyPr>
          <a:lstStyle/>
          <a:p>
            <a:pPr algn="ctr"/>
            <a:r>
              <a:rPr sz="2600" b="1">
                <a:solidFill>
                  <a:srgbClr val="FFFFFF"/>
                </a:solidFill>
                <a:latin typeface="Segoe UI"/>
              </a:rPr>
              <a:t>5</a:t>
            </a:r>
          </a:p>
        </p:txBody>
      </p:sp>
      <p:sp>
        <p:nvSpPr>
          <p:cNvPr id="27" name="TextBox 26"/>
          <p:cNvSpPr txBox="1"/>
          <p:nvPr/>
        </p:nvSpPr>
        <p:spPr>
          <a:xfrm>
            <a:off x="2743200" y="3611879"/>
            <a:ext cx="1280160" cy="274320"/>
          </a:xfrm>
          <a:prstGeom prst="rect">
            <a:avLst/>
          </a:prstGeom>
          <a:noFill/>
        </p:spPr>
        <p:txBody>
          <a:bodyPr wrap="square" anchor="t" lIns="0" rIns="0" tIns="0" bIns="0">
            <a:spAutoFit/>
          </a:bodyPr>
          <a:lstStyle/>
          <a:p>
            <a:pPr algn="ctr"/>
            <a:r>
              <a:rPr sz="1250" b="1">
                <a:solidFill>
                  <a:srgbClr val="5E665E"/>
                </a:solidFill>
                <a:latin typeface="Segoe UI"/>
              </a:rPr>
              <a:t>worst</a:t>
            </a:r>
          </a:p>
        </p:txBody>
      </p:sp>
      <p:sp>
        <p:nvSpPr>
          <p:cNvPr id="28" name="Rounded Rectangle 27"/>
          <p:cNvSpPr/>
          <p:nvPr/>
        </p:nvSpPr>
        <p:spPr>
          <a:xfrm>
            <a:off x="8869680" y="3538727"/>
            <a:ext cx="1097280" cy="347472"/>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0" y="3538727"/>
            <a:ext cx="1097280" cy="347472"/>
          </a:xfrm>
          <a:prstGeom prst="rect">
            <a:avLst/>
          </a:prstGeom>
          <a:noFill/>
        </p:spPr>
        <p:txBody>
          <a:bodyPr wrap="square" anchor="ctr" lIns="0" rIns="0" tIns="0" bIns="0">
            <a:spAutoFit/>
          </a:bodyPr>
          <a:lstStyle/>
          <a:p>
            <a:pPr algn="ctr"/>
            <a:r>
              <a:rPr sz="1300" b="1">
                <a:solidFill>
                  <a:srgbClr val="FFFFFF"/>
                </a:solidFill>
                <a:latin typeface="Segoe UI"/>
              </a:rPr>
              <a:t>BEST</a:t>
            </a:r>
          </a:p>
        </p:txBody>
      </p:sp>
      <p:sp>
        <p:nvSpPr>
          <p:cNvPr id="30" name="Rounded Rectangle 29"/>
          <p:cNvSpPr/>
          <p:nvPr/>
        </p:nvSpPr>
        <p:spPr>
          <a:xfrm>
            <a:off x="640080" y="5440680"/>
            <a:ext cx="10908792" cy="731520"/>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440680"/>
            <a:ext cx="10908792" cy="731520"/>
          </a:xfrm>
          <a:prstGeom prst="rect">
            <a:avLst/>
          </a:prstGeom>
          <a:noFill/>
        </p:spPr>
        <p:txBody>
          <a:bodyPr wrap="square" anchor="ctr" lIns="0" rIns="0" tIns="0" bIns="0">
            <a:spAutoFit/>
          </a:bodyPr>
          <a:lstStyle/>
          <a:p>
            <a:pPr algn="ctr"/>
            <a:r>
              <a:rPr sz="1700" b="1">
                <a:solidFill>
                  <a:srgbClr val="FFFFFF"/>
                </a:solidFill>
                <a:latin typeface="Segoe UI"/>
              </a:rPr>
              <a:t>Higher number, higher rank. Rank 5 is the top.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What your rank gets you</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Rank decides your leads, not your schedule.</a:t>
            </a:r>
          </a:p>
        </p:txBody>
      </p:sp>
      <p:sp>
        <p:nvSpPr>
          <p:cNvPr id="7" name="Rounded Rectangle 6"/>
          <p:cNvSpPr/>
          <p:nvPr/>
        </p:nvSpPr>
        <p:spPr>
          <a:xfrm>
            <a:off x="640080" y="2057400"/>
            <a:ext cx="3422904" cy="224028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2514600"/>
            <a:ext cx="2782824" cy="548640"/>
          </a:xfrm>
          <a:prstGeom prst="rect">
            <a:avLst/>
          </a:prstGeom>
          <a:noFill/>
        </p:spPr>
        <p:txBody>
          <a:bodyPr wrap="square" anchor="ctr" lIns="0" rIns="0" tIns="0" bIns="0">
            <a:spAutoFit/>
          </a:bodyPr>
          <a:lstStyle/>
          <a:p>
            <a:pPr algn="ctr"/>
            <a:r>
              <a:rPr sz="2000" b="1">
                <a:solidFill>
                  <a:srgbClr val="1A2332"/>
                </a:solidFill>
                <a:latin typeface="Segoe UI"/>
              </a:rPr>
              <a:t>More leads</a:t>
            </a:r>
          </a:p>
        </p:txBody>
      </p:sp>
      <p:sp>
        <p:nvSpPr>
          <p:cNvPr id="9" name="Rounded Rectangle 8"/>
          <p:cNvSpPr/>
          <p:nvPr/>
        </p:nvSpPr>
        <p:spPr>
          <a:xfrm>
            <a:off x="1757172" y="3136391"/>
            <a:ext cx="1188720" cy="73152"/>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19" y="3383280"/>
            <a:ext cx="2782824" cy="914400"/>
          </a:xfrm>
          <a:prstGeom prst="rect">
            <a:avLst/>
          </a:prstGeom>
          <a:noFill/>
        </p:spPr>
        <p:txBody>
          <a:bodyPr wrap="square" anchor="t" lIns="0" rIns="0" tIns="0" bIns="0">
            <a:spAutoFit/>
          </a:bodyPr>
          <a:lstStyle/>
          <a:p>
            <a:pPr algn="ctr"/>
            <a:r>
              <a:rPr sz="1500" b="0">
                <a:solidFill>
                  <a:srgbClr val="5E665E"/>
                </a:solidFill>
                <a:latin typeface="Segoe UI"/>
              </a:rPr>
              <a:t>Higher ranks get more company leads.</a:t>
            </a:r>
          </a:p>
        </p:txBody>
      </p:sp>
      <p:sp>
        <p:nvSpPr>
          <p:cNvPr id="11" name="Rounded Rectangle 10"/>
          <p:cNvSpPr/>
          <p:nvPr/>
        </p:nvSpPr>
        <p:spPr>
          <a:xfrm>
            <a:off x="4383024" y="2057400"/>
            <a:ext cx="3422904" cy="224028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3064" y="2514600"/>
            <a:ext cx="2782824" cy="548640"/>
          </a:xfrm>
          <a:prstGeom prst="rect">
            <a:avLst/>
          </a:prstGeom>
          <a:noFill/>
        </p:spPr>
        <p:txBody>
          <a:bodyPr wrap="square" anchor="ctr" lIns="0" rIns="0" tIns="0" bIns="0">
            <a:spAutoFit/>
          </a:bodyPr>
          <a:lstStyle/>
          <a:p>
            <a:pPr algn="ctr"/>
            <a:r>
              <a:rPr sz="2000" b="1">
                <a:solidFill>
                  <a:srgbClr val="1A2332"/>
                </a:solidFill>
                <a:latin typeface="Segoe UI"/>
              </a:rPr>
              <a:t>Better leads</a:t>
            </a:r>
          </a:p>
        </p:txBody>
      </p:sp>
      <p:sp>
        <p:nvSpPr>
          <p:cNvPr id="13" name="Rounded Rectangle 12"/>
          <p:cNvSpPr/>
          <p:nvPr/>
        </p:nvSpPr>
        <p:spPr>
          <a:xfrm>
            <a:off x="5500116" y="3136391"/>
            <a:ext cx="1188720" cy="73152"/>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3064" y="3383280"/>
            <a:ext cx="2782824" cy="914400"/>
          </a:xfrm>
          <a:prstGeom prst="rect">
            <a:avLst/>
          </a:prstGeom>
          <a:noFill/>
        </p:spPr>
        <p:txBody>
          <a:bodyPr wrap="square" anchor="t" lIns="0" rIns="0" tIns="0" bIns="0">
            <a:spAutoFit/>
          </a:bodyPr>
          <a:lstStyle/>
          <a:p>
            <a:pPr algn="ctr"/>
            <a:r>
              <a:rPr sz="1500" b="0">
                <a:solidFill>
                  <a:srgbClr val="5E665E"/>
                </a:solidFill>
                <a:latin typeface="Segoe UI"/>
              </a:rPr>
              <a:t>Top ranks get the highest-quality leads.</a:t>
            </a:r>
          </a:p>
        </p:txBody>
      </p:sp>
      <p:sp>
        <p:nvSpPr>
          <p:cNvPr id="15" name="Rounded Rectangle 14"/>
          <p:cNvSpPr/>
          <p:nvPr/>
        </p:nvSpPr>
        <p:spPr>
          <a:xfrm>
            <a:off x="8125968" y="2057400"/>
            <a:ext cx="3422904" cy="224028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46008" y="2514600"/>
            <a:ext cx="2782824" cy="548640"/>
          </a:xfrm>
          <a:prstGeom prst="rect">
            <a:avLst/>
          </a:prstGeom>
          <a:noFill/>
        </p:spPr>
        <p:txBody>
          <a:bodyPr wrap="square" anchor="ctr" lIns="0" rIns="0" tIns="0" bIns="0">
            <a:spAutoFit/>
          </a:bodyPr>
          <a:lstStyle/>
          <a:p>
            <a:pPr algn="ctr"/>
            <a:r>
              <a:rPr sz="2000" b="1">
                <a:solidFill>
                  <a:srgbClr val="1A2332"/>
                </a:solidFill>
                <a:latin typeface="Segoe UI"/>
              </a:rPr>
              <a:t>Confirmation priority</a:t>
            </a:r>
          </a:p>
        </p:txBody>
      </p:sp>
      <p:sp>
        <p:nvSpPr>
          <p:cNvPr id="17" name="Rounded Rectangle 16"/>
          <p:cNvSpPr/>
          <p:nvPr/>
        </p:nvSpPr>
        <p:spPr>
          <a:xfrm>
            <a:off x="9243060" y="3136391"/>
            <a:ext cx="1188720" cy="73152"/>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46008" y="3383280"/>
            <a:ext cx="2782824" cy="914400"/>
          </a:xfrm>
          <a:prstGeom prst="rect">
            <a:avLst/>
          </a:prstGeom>
          <a:noFill/>
        </p:spPr>
        <p:txBody>
          <a:bodyPr wrap="square" anchor="t" lIns="0" rIns="0" tIns="0" bIns="0">
            <a:spAutoFit/>
          </a:bodyPr>
          <a:lstStyle/>
          <a:p>
            <a:pPr algn="ctr"/>
            <a:r>
              <a:rPr sz="1500" b="0">
                <a:solidFill>
                  <a:srgbClr val="5E665E"/>
                </a:solidFill>
                <a:latin typeface="Segoe UI"/>
              </a:rPr>
              <a:t>Confirmed, ready-to-run appointments are matched to top reps first.</a:t>
            </a:r>
          </a:p>
        </p:txBody>
      </p:sp>
      <p:sp>
        <p:nvSpPr>
          <p:cNvPr id="19" name="Rounded Rectangle 18"/>
          <p:cNvSpPr/>
          <p:nvPr/>
        </p:nvSpPr>
        <p:spPr>
          <a:xfrm>
            <a:off x="640080" y="4572000"/>
            <a:ext cx="10908792" cy="731520"/>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572000"/>
            <a:ext cx="10908792" cy="731520"/>
          </a:xfrm>
          <a:prstGeom prst="rect">
            <a:avLst/>
          </a:prstGeom>
          <a:noFill/>
        </p:spPr>
        <p:txBody>
          <a:bodyPr wrap="square" anchor="ctr" lIns="0" rIns="0" tIns="0" bIns="0">
            <a:spAutoFit/>
          </a:bodyPr>
          <a:lstStyle/>
          <a:p>
            <a:pPr algn="ctr"/>
            <a:r>
              <a:rPr sz="1650" b="1">
                <a:solidFill>
                  <a:srgbClr val="FFFFFF"/>
                </a:solidFill>
                <a:latin typeface="Segoe UI"/>
              </a:rPr>
              <a:t>Your performance sets your rank. The best leads go to the best closers.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Confirmation priority: how appointments are matched</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The best appointments go to the best reps, set by the Confirmation Formula.</a:t>
            </a:r>
          </a:p>
        </p:txBody>
      </p:sp>
      <p:sp>
        <p:nvSpPr>
          <p:cNvPr id="7" name="TextBox 6"/>
          <p:cNvSpPr txBox="1"/>
          <p:nvPr/>
        </p:nvSpPr>
        <p:spPr>
          <a:xfrm>
            <a:off x="640080" y="1572768"/>
            <a:ext cx="10972800" cy="274320"/>
          </a:xfrm>
          <a:prstGeom prst="rect">
            <a:avLst/>
          </a:prstGeom>
          <a:noFill/>
        </p:spPr>
        <p:txBody>
          <a:bodyPr wrap="square" anchor="t" lIns="0" rIns="0" tIns="0" bIns="0">
            <a:spAutoFit/>
          </a:bodyPr>
          <a:lstStyle/>
          <a:p>
            <a:pPr algn="l"/>
            <a:r>
              <a:rPr sz="1250" b="1">
                <a:solidFill>
                  <a:srgbClr val="1A2332"/>
                </a:solidFill>
                <a:latin typeface="Segoe UI"/>
              </a:rPr>
              <a:t>Appointment priority</a:t>
            </a:r>
            <a:r>
              <a:rPr sz="1250" b="0">
                <a:solidFill>
                  <a:srgbClr val="5E665E"/>
                </a:solidFill>
                <a:latin typeface="Segoe UI"/>
              </a:rPr>
              <a:t>    1 is dispatched first, 6 is last. Confirmed always beats unconfirmed.</a:t>
            </a:r>
          </a:p>
        </p:txBody>
      </p:sp>
      <p:sp>
        <p:nvSpPr>
          <p:cNvPr id="8" name="Rounded Rectangle 7"/>
          <p:cNvSpPr/>
          <p:nvPr/>
        </p:nvSpPr>
        <p:spPr>
          <a:xfrm>
            <a:off x="1158087" y="2240280"/>
            <a:ext cx="1417320" cy="731520"/>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8087" y="2240280"/>
            <a:ext cx="1417320" cy="731520"/>
          </a:xfrm>
          <a:prstGeom prst="rect">
            <a:avLst/>
          </a:prstGeom>
          <a:noFill/>
        </p:spPr>
        <p:txBody>
          <a:bodyPr wrap="square" anchor="ctr" lIns="0" rIns="0" tIns="0" bIns="0">
            <a:spAutoFit/>
          </a:bodyPr>
          <a:lstStyle/>
          <a:p>
            <a:pPr algn="ctr"/>
            <a:r>
              <a:rPr sz="3000" b="1">
                <a:solidFill>
                  <a:srgbClr val="FFFFFF"/>
                </a:solidFill>
                <a:latin typeface="Segoe UI"/>
              </a:rPr>
              <a:t>1</a:t>
            </a:r>
          </a:p>
        </p:txBody>
      </p:sp>
      <p:sp>
        <p:nvSpPr>
          <p:cNvPr id="10" name="TextBox 9"/>
          <p:cNvSpPr txBox="1"/>
          <p:nvPr/>
        </p:nvSpPr>
        <p:spPr>
          <a:xfrm>
            <a:off x="1066647" y="3081528"/>
            <a:ext cx="1600200" cy="640080"/>
          </a:xfrm>
          <a:prstGeom prst="rect">
            <a:avLst/>
          </a:prstGeom>
          <a:noFill/>
        </p:spPr>
        <p:txBody>
          <a:bodyPr wrap="square" anchor="t" lIns="0" rIns="0" tIns="0" bIns="0">
            <a:spAutoFit/>
          </a:bodyPr>
          <a:lstStyle/>
          <a:p>
            <a:pPr algn="ctr">
              <a:spcAft>
                <a:spcPts val="100"/>
              </a:spcAft>
            </a:pPr>
            <a:r>
              <a:rPr sz="1250" b="1">
                <a:solidFill>
                  <a:srgbClr val="1A2332"/>
                </a:solidFill>
                <a:latin typeface="Segoe UI"/>
              </a:rPr>
              <a:t>Next day</a:t>
            </a:r>
          </a:p>
          <a:p>
            <a:pPr algn="ctr">
              <a:spcAft>
                <a:spcPts val="100"/>
              </a:spcAft>
            </a:pPr>
            <a:r>
              <a:rPr sz="1150" b="0">
                <a:solidFill>
                  <a:srgbClr val="5E665E"/>
                </a:solidFill>
                <a:latin typeface="Segoe UI"/>
              </a:rPr>
              <a:t>Confirmed</a:t>
            </a:r>
          </a:p>
        </p:txBody>
      </p:sp>
      <p:sp>
        <p:nvSpPr>
          <p:cNvPr id="11" name="Rounded Rectangle 10"/>
          <p:cNvSpPr/>
          <p:nvPr/>
        </p:nvSpPr>
        <p:spPr>
          <a:xfrm>
            <a:off x="2849727" y="2240280"/>
            <a:ext cx="1417320" cy="731520"/>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49727" y="2240280"/>
            <a:ext cx="1417320" cy="731520"/>
          </a:xfrm>
          <a:prstGeom prst="rect">
            <a:avLst/>
          </a:prstGeom>
          <a:noFill/>
        </p:spPr>
        <p:txBody>
          <a:bodyPr wrap="square" anchor="ctr" lIns="0" rIns="0" tIns="0" bIns="0">
            <a:spAutoFit/>
          </a:bodyPr>
          <a:lstStyle/>
          <a:p>
            <a:pPr algn="ctr"/>
            <a:r>
              <a:rPr sz="3000" b="1">
                <a:solidFill>
                  <a:srgbClr val="FFFFFF"/>
                </a:solidFill>
                <a:latin typeface="Segoe UI"/>
              </a:rPr>
              <a:t>2</a:t>
            </a:r>
          </a:p>
        </p:txBody>
      </p:sp>
      <p:sp>
        <p:nvSpPr>
          <p:cNvPr id="13" name="TextBox 12"/>
          <p:cNvSpPr txBox="1"/>
          <p:nvPr/>
        </p:nvSpPr>
        <p:spPr>
          <a:xfrm>
            <a:off x="2758287" y="3081528"/>
            <a:ext cx="1600200" cy="640080"/>
          </a:xfrm>
          <a:prstGeom prst="rect">
            <a:avLst/>
          </a:prstGeom>
          <a:noFill/>
        </p:spPr>
        <p:txBody>
          <a:bodyPr wrap="square" anchor="t" lIns="0" rIns="0" tIns="0" bIns="0">
            <a:spAutoFit/>
          </a:bodyPr>
          <a:lstStyle/>
          <a:p>
            <a:pPr algn="ctr">
              <a:spcAft>
                <a:spcPts val="100"/>
              </a:spcAft>
            </a:pPr>
            <a:r>
              <a:rPr sz="1250" b="1">
                <a:solidFill>
                  <a:srgbClr val="1A2332"/>
                </a:solidFill>
                <a:latin typeface="Segoe UI"/>
              </a:rPr>
              <a:t>2+ days</a:t>
            </a:r>
          </a:p>
          <a:p>
            <a:pPr algn="ctr">
              <a:spcAft>
                <a:spcPts val="100"/>
              </a:spcAft>
            </a:pPr>
            <a:r>
              <a:rPr sz="1150" b="0">
                <a:solidFill>
                  <a:srgbClr val="5E665E"/>
                </a:solidFill>
                <a:latin typeface="Segoe UI"/>
              </a:rPr>
              <a:t>Confirmed</a:t>
            </a:r>
          </a:p>
        </p:txBody>
      </p:sp>
      <p:sp>
        <p:nvSpPr>
          <p:cNvPr id="14" name="Rounded Rectangle 13"/>
          <p:cNvSpPr/>
          <p:nvPr/>
        </p:nvSpPr>
        <p:spPr>
          <a:xfrm>
            <a:off x="4541367" y="2240280"/>
            <a:ext cx="1417320" cy="731520"/>
          </a:xfrm>
          <a:prstGeom prst="roundRect">
            <a:avLst/>
          </a:prstGeom>
          <a:solidFill>
            <a:srgbClr val="7EC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1367" y="2240280"/>
            <a:ext cx="1417320" cy="731520"/>
          </a:xfrm>
          <a:prstGeom prst="rect">
            <a:avLst/>
          </a:prstGeom>
          <a:noFill/>
        </p:spPr>
        <p:txBody>
          <a:bodyPr wrap="square" anchor="ctr" lIns="0" rIns="0" tIns="0" bIns="0">
            <a:spAutoFit/>
          </a:bodyPr>
          <a:lstStyle/>
          <a:p>
            <a:pPr algn="ctr"/>
            <a:r>
              <a:rPr sz="3000" b="1">
                <a:solidFill>
                  <a:srgbClr val="FFFFFF"/>
                </a:solidFill>
                <a:latin typeface="Segoe UI"/>
              </a:rPr>
              <a:t>3</a:t>
            </a:r>
          </a:p>
        </p:txBody>
      </p:sp>
      <p:sp>
        <p:nvSpPr>
          <p:cNvPr id="16" name="TextBox 15"/>
          <p:cNvSpPr txBox="1"/>
          <p:nvPr/>
        </p:nvSpPr>
        <p:spPr>
          <a:xfrm>
            <a:off x="4449927" y="3081528"/>
            <a:ext cx="1600200" cy="640080"/>
          </a:xfrm>
          <a:prstGeom prst="rect">
            <a:avLst/>
          </a:prstGeom>
          <a:noFill/>
        </p:spPr>
        <p:txBody>
          <a:bodyPr wrap="square" anchor="t" lIns="0" rIns="0" tIns="0" bIns="0">
            <a:spAutoFit/>
          </a:bodyPr>
          <a:lstStyle/>
          <a:p>
            <a:pPr algn="ctr">
              <a:spcAft>
                <a:spcPts val="100"/>
              </a:spcAft>
            </a:pPr>
            <a:r>
              <a:rPr sz="1250" b="1">
                <a:solidFill>
                  <a:srgbClr val="1A2332"/>
                </a:solidFill>
                <a:latin typeface="Segoe UI"/>
              </a:rPr>
              <a:t>Same day</a:t>
            </a:r>
          </a:p>
          <a:p>
            <a:pPr algn="ctr">
              <a:spcAft>
                <a:spcPts val="100"/>
              </a:spcAft>
            </a:pPr>
            <a:r>
              <a:rPr sz="1150" b="0">
                <a:solidFill>
                  <a:srgbClr val="5E665E"/>
                </a:solidFill>
                <a:latin typeface="Segoe UI"/>
              </a:rPr>
              <a:t>Confirmed</a:t>
            </a:r>
          </a:p>
        </p:txBody>
      </p:sp>
      <p:sp>
        <p:nvSpPr>
          <p:cNvPr id="17" name="Rounded Rectangle 16"/>
          <p:cNvSpPr/>
          <p:nvPr/>
        </p:nvSpPr>
        <p:spPr>
          <a:xfrm>
            <a:off x="6233007" y="2240280"/>
            <a:ext cx="1417320" cy="731520"/>
          </a:xfrm>
          <a:prstGeom prst="roundRect">
            <a:avLst/>
          </a:prstGeom>
          <a:solidFill>
            <a:srgbClr val="B6B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33007" y="2240280"/>
            <a:ext cx="1417320" cy="731520"/>
          </a:xfrm>
          <a:prstGeom prst="rect">
            <a:avLst/>
          </a:prstGeom>
          <a:noFill/>
        </p:spPr>
        <p:txBody>
          <a:bodyPr wrap="square" anchor="ctr" lIns="0" rIns="0" tIns="0" bIns="0">
            <a:spAutoFit/>
          </a:bodyPr>
          <a:lstStyle/>
          <a:p>
            <a:pPr algn="ctr"/>
            <a:r>
              <a:rPr sz="3000" b="1">
                <a:solidFill>
                  <a:srgbClr val="FFFFFF"/>
                </a:solidFill>
                <a:latin typeface="Segoe UI"/>
              </a:rPr>
              <a:t>4</a:t>
            </a:r>
          </a:p>
        </p:txBody>
      </p:sp>
      <p:sp>
        <p:nvSpPr>
          <p:cNvPr id="19" name="TextBox 18"/>
          <p:cNvSpPr txBox="1"/>
          <p:nvPr/>
        </p:nvSpPr>
        <p:spPr>
          <a:xfrm>
            <a:off x="6141567" y="3081528"/>
            <a:ext cx="1600200" cy="640080"/>
          </a:xfrm>
          <a:prstGeom prst="rect">
            <a:avLst/>
          </a:prstGeom>
          <a:noFill/>
        </p:spPr>
        <p:txBody>
          <a:bodyPr wrap="square" anchor="t" lIns="0" rIns="0" tIns="0" bIns="0">
            <a:spAutoFit/>
          </a:bodyPr>
          <a:lstStyle/>
          <a:p>
            <a:pPr algn="ctr">
              <a:spcAft>
                <a:spcPts val="100"/>
              </a:spcAft>
            </a:pPr>
            <a:r>
              <a:rPr sz="1250" b="1">
                <a:solidFill>
                  <a:srgbClr val="1A2332"/>
                </a:solidFill>
                <a:latin typeface="Segoe UI"/>
              </a:rPr>
              <a:t>Same day</a:t>
            </a:r>
          </a:p>
          <a:p>
            <a:pPr algn="ctr">
              <a:spcAft>
                <a:spcPts val="100"/>
              </a:spcAft>
            </a:pPr>
            <a:r>
              <a:rPr sz="1150" b="0">
                <a:solidFill>
                  <a:srgbClr val="5E665E"/>
                </a:solidFill>
                <a:latin typeface="Segoe UI"/>
              </a:rPr>
              <a:t>Unconfirmed</a:t>
            </a:r>
          </a:p>
        </p:txBody>
      </p:sp>
      <p:sp>
        <p:nvSpPr>
          <p:cNvPr id="20" name="Rounded Rectangle 19"/>
          <p:cNvSpPr/>
          <p:nvPr/>
        </p:nvSpPr>
        <p:spPr>
          <a:xfrm>
            <a:off x="7924647" y="2240280"/>
            <a:ext cx="1417320" cy="731520"/>
          </a:xfrm>
          <a:prstGeom prst="roundRect">
            <a:avLst/>
          </a:prstGeom>
          <a:solidFill>
            <a:srgbClr val="9AA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24647" y="2240280"/>
            <a:ext cx="1417320" cy="731520"/>
          </a:xfrm>
          <a:prstGeom prst="rect">
            <a:avLst/>
          </a:prstGeom>
          <a:noFill/>
        </p:spPr>
        <p:txBody>
          <a:bodyPr wrap="square" anchor="ctr" lIns="0" rIns="0" tIns="0" bIns="0">
            <a:spAutoFit/>
          </a:bodyPr>
          <a:lstStyle/>
          <a:p>
            <a:pPr algn="ctr"/>
            <a:r>
              <a:rPr sz="3000" b="1">
                <a:solidFill>
                  <a:srgbClr val="FFFFFF"/>
                </a:solidFill>
                <a:latin typeface="Segoe UI"/>
              </a:rPr>
              <a:t>5</a:t>
            </a:r>
          </a:p>
        </p:txBody>
      </p:sp>
      <p:sp>
        <p:nvSpPr>
          <p:cNvPr id="22" name="TextBox 21"/>
          <p:cNvSpPr txBox="1"/>
          <p:nvPr/>
        </p:nvSpPr>
        <p:spPr>
          <a:xfrm>
            <a:off x="7833207" y="3081528"/>
            <a:ext cx="1600200" cy="640080"/>
          </a:xfrm>
          <a:prstGeom prst="rect">
            <a:avLst/>
          </a:prstGeom>
          <a:noFill/>
        </p:spPr>
        <p:txBody>
          <a:bodyPr wrap="square" anchor="t" lIns="0" rIns="0" tIns="0" bIns="0">
            <a:spAutoFit/>
          </a:bodyPr>
          <a:lstStyle/>
          <a:p>
            <a:pPr algn="ctr">
              <a:spcAft>
                <a:spcPts val="100"/>
              </a:spcAft>
            </a:pPr>
            <a:r>
              <a:rPr sz="1250" b="1">
                <a:solidFill>
                  <a:srgbClr val="1A2332"/>
                </a:solidFill>
                <a:latin typeface="Segoe UI"/>
              </a:rPr>
              <a:t>Next day</a:t>
            </a:r>
          </a:p>
          <a:p>
            <a:pPr algn="ctr">
              <a:spcAft>
                <a:spcPts val="100"/>
              </a:spcAft>
            </a:pPr>
            <a:r>
              <a:rPr sz="1150" b="0">
                <a:solidFill>
                  <a:srgbClr val="5E665E"/>
                </a:solidFill>
                <a:latin typeface="Segoe UI"/>
              </a:rPr>
              <a:t>Unconfirmed</a:t>
            </a:r>
          </a:p>
        </p:txBody>
      </p:sp>
      <p:sp>
        <p:nvSpPr>
          <p:cNvPr id="23" name="Rounded Rectangle 22"/>
          <p:cNvSpPr/>
          <p:nvPr/>
        </p:nvSpPr>
        <p:spPr>
          <a:xfrm>
            <a:off x="9616287" y="2240280"/>
            <a:ext cx="1417320" cy="731520"/>
          </a:xfrm>
          <a:prstGeom prst="roundRect">
            <a:avLst/>
          </a:prstGeom>
          <a:solidFill>
            <a:srgbClr val="7C82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16287" y="2240280"/>
            <a:ext cx="1417320" cy="731520"/>
          </a:xfrm>
          <a:prstGeom prst="rect">
            <a:avLst/>
          </a:prstGeom>
          <a:noFill/>
        </p:spPr>
        <p:txBody>
          <a:bodyPr wrap="square" anchor="ctr" lIns="0" rIns="0" tIns="0" bIns="0">
            <a:spAutoFit/>
          </a:bodyPr>
          <a:lstStyle/>
          <a:p>
            <a:pPr algn="ctr"/>
            <a:r>
              <a:rPr sz="3000" b="1">
                <a:solidFill>
                  <a:srgbClr val="FFFFFF"/>
                </a:solidFill>
                <a:latin typeface="Segoe UI"/>
              </a:rPr>
              <a:t>6</a:t>
            </a:r>
          </a:p>
        </p:txBody>
      </p:sp>
      <p:sp>
        <p:nvSpPr>
          <p:cNvPr id="25" name="TextBox 24"/>
          <p:cNvSpPr txBox="1"/>
          <p:nvPr/>
        </p:nvSpPr>
        <p:spPr>
          <a:xfrm>
            <a:off x="9524847" y="3081528"/>
            <a:ext cx="1600200" cy="640080"/>
          </a:xfrm>
          <a:prstGeom prst="rect">
            <a:avLst/>
          </a:prstGeom>
          <a:noFill/>
        </p:spPr>
        <p:txBody>
          <a:bodyPr wrap="square" anchor="t" lIns="0" rIns="0" tIns="0" bIns="0">
            <a:spAutoFit/>
          </a:bodyPr>
          <a:lstStyle/>
          <a:p>
            <a:pPr algn="ctr">
              <a:spcAft>
                <a:spcPts val="100"/>
              </a:spcAft>
            </a:pPr>
            <a:r>
              <a:rPr sz="1250" b="1">
                <a:solidFill>
                  <a:srgbClr val="1A2332"/>
                </a:solidFill>
                <a:latin typeface="Segoe UI"/>
              </a:rPr>
              <a:t>2+ days</a:t>
            </a:r>
          </a:p>
          <a:p>
            <a:pPr algn="ctr">
              <a:spcAft>
                <a:spcPts val="100"/>
              </a:spcAft>
            </a:pPr>
            <a:r>
              <a:rPr sz="1150" b="0">
                <a:solidFill>
                  <a:srgbClr val="5E665E"/>
                </a:solidFill>
                <a:latin typeface="Segoe UI"/>
              </a:rPr>
              <a:t>Unconfirmed</a:t>
            </a:r>
          </a:p>
        </p:txBody>
      </p:sp>
      <p:sp>
        <p:nvSpPr>
          <p:cNvPr id="26" name="Rounded Rectangle 25"/>
          <p:cNvSpPr/>
          <p:nvPr/>
        </p:nvSpPr>
        <p:spPr>
          <a:xfrm>
            <a:off x="640080" y="3977639"/>
            <a:ext cx="5303520" cy="105156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160520"/>
            <a:ext cx="4846320" cy="365760"/>
          </a:xfrm>
          <a:prstGeom prst="rect">
            <a:avLst/>
          </a:prstGeom>
          <a:noFill/>
        </p:spPr>
        <p:txBody>
          <a:bodyPr wrap="square" anchor="t" lIns="0" rIns="0" tIns="0" bIns="0">
            <a:spAutoFit/>
          </a:bodyPr>
          <a:lstStyle/>
          <a:p>
            <a:pPr algn="l"/>
            <a:r>
              <a:rPr sz="1500" b="1">
                <a:solidFill>
                  <a:srgbClr val="1A2332"/>
                </a:solidFill>
                <a:latin typeface="Segoe UI"/>
              </a:rPr>
              <a:t>Appointments</a:t>
            </a:r>
          </a:p>
        </p:txBody>
      </p:sp>
      <p:sp>
        <p:nvSpPr>
          <p:cNvPr id="28" name="TextBox 27"/>
          <p:cNvSpPr txBox="1"/>
          <p:nvPr/>
        </p:nvSpPr>
        <p:spPr>
          <a:xfrm>
            <a:off x="914400" y="4498848"/>
            <a:ext cx="4846320" cy="457200"/>
          </a:xfrm>
          <a:prstGeom prst="rect">
            <a:avLst/>
          </a:prstGeom>
          <a:noFill/>
        </p:spPr>
        <p:txBody>
          <a:bodyPr wrap="square" anchor="t" lIns="0" rIns="0" tIns="0" bIns="0">
            <a:spAutoFit/>
          </a:bodyPr>
          <a:lstStyle/>
          <a:p>
            <a:pPr algn="l"/>
            <a:r>
              <a:rPr sz="1300" b="0">
                <a:solidFill>
                  <a:srgbClr val="5E665E"/>
                </a:solidFill>
                <a:latin typeface="Segoe UI"/>
              </a:rPr>
              <a:t>Sorted 1 to 6 by the Confirmation Formula, then by lead score.</a:t>
            </a:r>
          </a:p>
        </p:txBody>
      </p:sp>
      <p:sp>
        <p:nvSpPr>
          <p:cNvPr id="29" name="Rounded Rectangle 28"/>
          <p:cNvSpPr/>
          <p:nvPr/>
        </p:nvSpPr>
        <p:spPr>
          <a:xfrm>
            <a:off x="6245352" y="3977639"/>
            <a:ext cx="5303520" cy="105156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9672" y="4160520"/>
            <a:ext cx="4846320" cy="365760"/>
          </a:xfrm>
          <a:prstGeom prst="rect">
            <a:avLst/>
          </a:prstGeom>
          <a:noFill/>
        </p:spPr>
        <p:txBody>
          <a:bodyPr wrap="square" anchor="t" lIns="0" rIns="0" tIns="0" bIns="0">
            <a:spAutoFit/>
          </a:bodyPr>
          <a:lstStyle/>
          <a:p>
            <a:pPr algn="l"/>
            <a:r>
              <a:rPr sz="1500" b="1">
                <a:solidFill>
                  <a:srgbClr val="1A2332"/>
                </a:solidFill>
                <a:latin typeface="Segoe UI"/>
              </a:rPr>
              <a:t>Reps</a:t>
            </a:r>
          </a:p>
        </p:txBody>
      </p:sp>
      <p:sp>
        <p:nvSpPr>
          <p:cNvPr id="31" name="TextBox 30"/>
          <p:cNvSpPr txBox="1"/>
          <p:nvPr/>
        </p:nvSpPr>
        <p:spPr>
          <a:xfrm>
            <a:off x="6519672" y="4498848"/>
            <a:ext cx="4846320" cy="457200"/>
          </a:xfrm>
          <a:prstGeom prst="rect">
            <a:avLst/>
          </a:prstGeom>
          <a:noFill/>
        </p:spPr>
        <p:txBody>
          <a:bodyPr wrap="square" anchor="t" lIns="0" rIns="0" tIns="0" bIns="0">
            <a:spAutoFit/>
          </a:bodyPr>
          <a:lstStyle/>
          <a:p>
            <a:pPr algn="l"/>
            <a:r>
              <a:rPr sz="1300" b="0">
                <a:solidFill>
                  <a:srgbClr val="5E665E"/>
                </a:solidFill>
                <a:latin typeface="Segoe UI"/>
              </a:rPr>
              <a:t>Sorted by rank, then by Viper score.</a:t>
            </a:r>
          </a:p>
        </p:txBody>
      </p:sp>
      <p:sp>
        <p:nvSpPr>
          <p:cNvPr id="32" name="Rounded Rectangle 31"/>
          <p:cNvSpPr/>
          <p:nvPr/>
        </p:nvSpPr>
        <p:spPr>
          <a:xfrm>
            <a:off x="640080" y="5285232"/>
            <a:ext cx="10908792" cy="777240"/>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285232"/>
            <a:ext cx="10908792" cy="777240"/>
          </a:xfrm>
          <a:prstGeom prst="rect">
            <a:avLst/>
          </a:prstGeom>
          <a:noFill/>
        </p:spPr>
        <p:txBody>
          <a:bodyPr wrap="square" anchor="ctr" lIns="0" rIns="0" tIns="0" bIns="0">
            <a:spAutoFit/>
          </a:bodyPr>
          <a:lstStyle/>
          <a:p>
            <a:pPr algn="ctr"/>
            <a:r>
              <a:rPr sz="1650" b="1">
                <a:solidFill>
                  <a:srgbClr val="FFFFFF"/>
                </a:solidFill>
                <a:latin typeface="Segoe UI"/>
              </a:rPr>
              <a:t>Matched top to top: the best appointments reach the best reps.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What the score is made of</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Five measures, weighted. They add up to 100.</a:t>
            </a:r>
          </a:p>
        </p:txBody>
      </p:sp>
      <p:sp>
        <p:nvSpPr>
          <p:cNvPr id="7" name="Rounded Rectangle 6"/>
          <p:cNvSpPr/>
          <p:nvPr/>
        </p:nvSpPr>
        <p:spPr>
          <a:xfrm>
            <a:off x="640080" y="1828800"/>
            <a:ext cx="10908792" cy="658368"/>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58952" y="1911095"/>
            <a:ext cx="1234440" cy="493776"/>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911095"/>
            <a:ext cx="1234440" cy="493776"/>
          </a:xfrm>
          <a:prstGeom prst="rect">
            <a:avLst/>
          </a:prstGeom>
          <a:noFill/>
        </p:spPr>
        <p:txBody>
          <a:bodyPr wrap="square" anchor="ctr" lIns="0" rIns="0" tIns="0" bIns="0">
            <a:spAutoFit/>
          </a:bodyPr>
          <a:lstStyle/>
          <a:p>
            <a:pPr algn="ctr"/>
            <a:r>
              <a:rPr sz="2100" b="1">
                <a:solidFill>
                  <a:srgbClr val="FFFFFF"/>
                </a:solidFill>
                <a:latin typeface="Segoe UI"/>
              </a:rPr>
              <a:t>50</a:t>
            </a:r>
          </a:p>
        </p:txBody>
      </p:sp>
      <p:sp>
        <p:nvSpPr>
          <p:cNvPr id="10" name="TextBox 9"/>
          <p:cNvSpPr txBox="1"/>
          <p:nvPr/>
        </p:nvSpPr>
        <p:spPr>
          <a:xfrm>
            <a:off x="2194560" y="1828800"/>
            <a:ext cx="3017520" cy="658368"/>
          </a:xfrm>
          <a:prstGeom prst="rect">
            <a:avLst/>
          </a:prstGeom>
          <a:noFill/>
        </p:spPr>
        <p:txBody>
          <a:bodyPr wrap="square" anchor="ctr" lIns="0" rIns="0" tIns="0" bIns="0">
            <a:spAutoFit/>
          </a:bodyPr>
          <a:lstStyle/>
          <a:p>
            <a:pPr algn="l"/>
            <a:r>
              <a:rPr sz="1650" b="1">
                <a:solidFill>
                  <a:srgbClr val="1A2332"/>
                </a:solidFill>
                <a:latin typeface="Segoe UI"/>
              </a:rPr>
              <a:t>Effective rate</a:t>
            </a:r>
          </a:p>
        </p:txBody>
      </p:sp>
      <p:sp>
        <p:nvSpPr>
          <p:cNvPr id="11" name="TextBox 10"/>
          <p:cNvSpPr txBox="1"/>
          <p:nvPr/>
        </p:nvSpPr>
        <p:spPr>
          <a:xfrm>
            <a:off x="5212080" y="1828800"/>
            <a:ext cx="6153912" cy="658368"/>
          </a:xfrm>
          <a:prstGeom prst="rect">
            <a:avLst/>
          </a:prstGeom>
          <a:noFill/>
        </p:spPr>
        <p:txBody>
          <a:bodyPr wrap="square" anchor="ctr" lIns="0" rIns="0" tIns="0" bIns="0">
            <a:spAutoFit/>
          </a:bodyPr>
          <a:lstStyle/>
          <a:p>
            <a:pPr algn="l"/>
            <a:r>
              <a:rPr sz="1450" b="0">
                <a:solidFill>
                  <a:srgbClr val="5E665E"/>
                </a:solidFill>
                <a:latin typeface="Segoe UI"/>
              </a:rPr>
              <a:t>Do you close the appointments we give you?</a:t>
            </a:r>
          </a:p>
        </p:txBody>
      </p:sp>
      <p:sp>
        <p:nvSpPr>
          <p:cNvPr id="12" name="Rounded Rectangle 11"/>
          <p:cNvSpPr/>
          <p:nvPr/>
        </p:nvSpPr>
        <p:spPr>
          <a:xfrm>
            <a:off x="640080" y="2606040"/>
            <a:ext cx="10908792" cy="658368"/>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58952" y="2688336"/>
            <a:ext cx="1234440" cy="493776"/>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2688336"/>
            <a:ext cx="1234440" cy="493776"/>
          </a:xfrm>
          <a:prstGeom prst="rect">
            <a:avLst/>
          </a:prstGeom>
          <a:noFill/>
        </p:spPr>
        <p:txBody>
          <a:bodyPr wrap="square" anchor="ctr" lIns="0" rIns="0" tIns="0" bIns="0">
            <a:spAutoFit/>
          </a:bodyPr>
          <a:lstStyle/>
          <a:p>
            <a:pPr algn="ctr"/>
            <a:r>
              <a:rPr sz="2100" b="1">
                <a:solidFill>
                  <a:srgbClr val="FFFFFF"/>
                </a:solidFill>
                <a:latin typeface="Segoe UI"/>
              </a:rPr>
              <a:t>30</a:t>
            </a:r>
          </a:p>
        </p:txBody>
      </p:sp>
      <p:sp>
        <p:nvSpPr>
          <p:cNvPr id="15" name="TextBox 14"/>
          <p:cNvSpPr txBox="1"/>
          <p:nvPr/>
        </p:nvSpPr>
        <p:spPr>
          <a:xfrm>
            <a:off x="2194560" y="2606040"/>
            <a:ext cx="3017520" cy="658368"/>
          </a:xfrm>
          <a:prstGeom prst="rect">
            <a:avLst/>
          </a:prstGeom>
          <a:noFill/>
        </p:spPr>
        <p:txBody>
          <a:bodyPr wrap="square" anchor="ctr" lIns="0" rIns="0" tIns="0" bIns="0">
            <a:spAutoFit/>
          </a:bodyPr>
          <a:lstStyle/>
          <a:p>
            <a:pPr algn="l"/>
            <a:r>
              <a:rPr sz="1650" b="1">
                <a:solidFill>
                  <a:srgbClr val="1A2332"/>
                </a:solidFill>
                <a:latin typeface="Segoe UI"/>
              </a:rPr>
              <a:t>Pull-through</a:t>
            </a:r>
          </a:p>
        </p:txBody>
      </p:sp>
      <p:sp>
        <p:nvSpPr>
          <p:cNvPr id="16" name="TextBox 15"/>
          <p:cNvSpPr txBox="1"/>
          <p:nvPr/>
        </p:nvSpPr>
        <p:spPr>
          <a:xfrm>
            <a:off x="5212080" y="2606040"/>
            <a:ext cx="6153912" cy="658368"/>
          </a:xfrm>
          <a:prstGeom prst="rect">
            <a:avLst/>
          </a:prstGeom>
          <a:noFill/>
        </p:spPr>
        <p:txBody>
          <a:bodyPr wrap="square" anchor="ctr" lIns="0" rIns="0" tIns="0" bIns="0">
            <a:spAutoFit/>
          </a:bodyPr>
          <a:lstStyle/>
          <a:p>
            <a:pPr algn="l"/>
            <a:r>
              <a:rPr sz="1450" b="0">
                <a:solidFill>
                  <a:srgbClr val="5E665E"/>
                </a:solidFill>
                <a:latin typeface="Segoe UI"/>
              </a:rPr>
              <a:t>Do your signed deals actually get installed?</a:t>
            </a:r>
          </a:p>
        </p:txBody>
      </p:sp>
      <p:sp>
        <p:nvSpPr>
          <p:cNvPr id="17" name="Rounded Rectangle 16"/>
          <p:cNvSpPr/>
          <p:nvPr/>
        </p:nvSpPr>
        <p:spPr>
          <a:xfrm>
            <a:off x="640080" y="3383280"/>
            <a:ext cx="10908792" cy="658368"/>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8952" y="3465576"/>
            <a:ext cx="1234440" cy="493776"/>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465576"/>
            <a:ext cx="1234440" cy="493776"/>
          </a:xfrm>
          <a:prstGeom prst="rect">
            <a:avLst/>
          </a:prstGeom>
          <a:noFill/>
        </p:spPr>
        <p:txBody>
          <a:bodyPr wrap="square" anchor="ctr" lIns="0" rIns="0" tIns="0" bIns="0">
            <a:spAutoFit/>
          </a:bodyPr>
          <a:lstStyle/>
          <a:p>
            <a:pPr algn="ctr"/>
            <a:r>
              <a:rPr sz="2100" b="1">
                <a:solidFill>
                  <a:srgbClr val="FFFFFF"/>
                </a:solidFill>
                <a:latin typeface="Segoe UI"/>
              </a:rPr>
              <a:t>10</a:t>
            </a:r>
          </a:p>
        </p:txBody>
      </p:sp>
      <p:sp>
        <p:nvSpPr>
          <p:cNvPr id="20" name="TextBox 19"/>
          <p:cNvSpPr txBox="1"/>
          <p:nvPr/>
        </p:nvSpPr>
        <p:spPr>
          <a:xfrm>
            <a:off x="2194560" y="3383280"/>
            <a:ext cx="3017520" cy="658368"/>
          </a:xfrm>
          <a:prstGeom prst="rect">
            <a:avLst/>
          </a:prstGeom>
          <a:noFill/>
        </p:spPr>
        <p:txBody>
          <a:bodyPr wrap="square" anchor="ctr" lIns="0" rIns="0" tIns="0" bIns="0">
            <a:spAutoFit/>
          </a:bodyPr>
          <a:lstStyle/>
          <a:p>
            <a:pPr algn="l"/>
            <a:r>
              <a:rPr sz="1650" b="1">
                <a:solidFill>
                  <a:srgbClr val="1A2332"/>
                </a:solidFill>
                <a:latin typeface="Segoe UI"/>
              </a:rPr>
              <a:t>Attachment</a:t>
            </a:r>
          </a:p>
        </p:txBody>
      </p:sp>
      <p:sp>
        <p:nvSpPr>
          <p:cNvPr id="21" name="TextBox 20"/>
          <p:cNvSpPr txBox="1"/>
          <p:nvPr/>
        </p:nvSpPr>
        <p:spPr>
          <a:xfrm>
            <a:off x="5212080" y="3383280"/>
            <a:ext cx="6153912" cy="658368"/>
          </a:xfrm>
          <a:prstGeom prst="rect">
            <a:avLst/>
          </a:prstGeom>
          <a:noFill/>
        </p:spPr>
        <p:txBody>
          <a:bodyPr wrap="square" anchor="ctr" lIns="0" rIns="0" tIns="0" bIns="0">
            <a:spAutoFit/>
          </a:bodyPr>
          <a:lstStyle/>
          <a:p>
            <a:pPr algn="l"/>
            <a:r>
              <a:rPr sz="1450" b="0">
                <a:solidFill>
                  <a:srgbClr val="5E665E"/>
                </a:solidFill>
                <a:latin typeface="Segoe UI"/>
              </a:rPr>
              <a:t>Do you add battery or roof to the deal?</a:t>
            </a:r>
          </a:p>
        </p:txBody>
      </p:sp>
      <p:sp>
        <p:nvSpPr>
          <p:cNvPr id="22" name="Rounded Rectangle 21"/>
          <p:cNvSpPr/>
          <p:nvPr/>
        </p:nvSpPr>
        <p:spPr>
          <a:xfrm>
            <a:off x="640080" y="4160520"/>
            <a:ext cx="10908792" cy="658368"/>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58952" y="4242816"/>
            <a:ext cx="1234440" cy="493776"/>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4242816"/>
            <a:ext cx="1234440" cy="493776"/>
          </a:xfrm>
          <a:prstGeom prst="rect">
            <a:avLst/>
          </a:prstGeom>
          <a:noFill/>
        </p:spPr>
        <p:txBody>
          <a:bodyPr wrap="square" anchor="ctr" lIns="0" rIns="0" tIns="0" bIns="0">
            <a:spAutoFit/>
          </a:bodyPr>
          <a:lstStyle/>
          <a:p>
            <a:pPr algn="ctr"/>
            <a:r>
              <a:rPr sz="2100" b="1">
                <a:solidFill>
                  <a:srgbClr val="FFFFFF"/>
                </a:solidFill>
                <a:latin typeface="Segoe UI"/>
              </a:rPr>
              <a:t>5</a:t>
            </a:r>
          </a:p>
        </p:txBody>
      </p:sp>
      <p:sp>
        <p:nvSpPr>
          <p:cNvPr id="25" name="TextBox 24"/>
          <p:cNvSpPr txBox="1"/>
          <p:nvPr/>
        </p:nvSpPr>
        <p:spPr>
          <a:xfrm>
            <a:off x="2194560" y="4160520"/>
            <a:ext cx="3017520" cy="658368"/>
          </a:xfrm>
          <a:prstGeom prst="rect">
            <a:avLst/>
          </a:prstGeom>
          <a:noFill/>
        </p:spPr>
        <p:txBody>
          <a:bodyPr wrap="square" anchor="ctr" lIns="0" rIns="0" tIns="0" bIns="0">
            <a:spAutoFit/>
          </a:bodyPr>
          <a:lstStyle/>
          <a:p>
            <a:pPr algn="l"/>
            <a:r>
              <a:rPr sz="1650" b="1">
                <a:solidFill>
                  <a:srgbClr val="1A2332"/>
                </a:solidFill>
                <a:latin typeface="Segoe UI"/>
              </a:rPr>
              <a:t>Pricing</a:t>
            </a:r>
          </a:p>
        </p:txBody>
      </p:sp>
      <p:sp>
        <p:nvSpPr>
          <p:cNvPr id="26" name="TextBox 25"/>
          <p:cNvSpPr txBox="1"/>
          <p:nvPr/>
        </p:nvSpPr>
        <p:spPr>
          <a:xfrm>
            <a:off x="5212080" y="4160520"/>
            <a:ext cx="6153912" cy="658368"/>
          </a:xfrm>
          <a:prstGeom prst="rect">
            <a:avLst/>
          </a:prstGeom>
          <a:noFill/>
        </p:spPr>
        <p:txBody>
          <a:bodyPr wrap="square" anchor="ctr" lIns="0" rIns="0" tIns="0" bIns="0">
            <a:spAutoFit/>
          </a:bodyPr>
          <a:lstStyle/>
          <a:p>
            <a:pPr algn="l"/>
            <a:r>
              <a:rPr sz="1450" b="0">
                <a:solidFill>
                  <a:srgbClr val="5E665E"/>
                </a:solidFill>
                <a:latin typeface="Segoe UI"/>
              </a:rPr>
              <a:t>Do you sell at our target price?</a:t>
            </a:r>
          </a:p>
        </p:txBody>
      </p:sp>
      <p:sp>
        <p:nvSpPr>
          <p:cNvPr id="27" name="Rounded Rectangle 26"/>
          <p:cNvSpPr/>
          <p:nvPr/>
        </p:nvSpPr>
        <p:spPr>
          <a:xfrm>
            <a:off x="640080" y="4937760"/>
            <a:ext cx="10908792" cy="658368"/>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58952" y="5020056"/>
            <a:ext cx="1234440" cy="493776"/>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5020056"/>
            <a:ext cx="1234440" cy="493776"/>
          </a:xfrm>
          <a:prstGeom prst="rect">
            <a:avLst/>
          </a:prstGeom>
          <a:noFill/>
        </p:spPr>
        <p:txBody>
          <a:bodyPr wrap="square" anchor="ctr" lIns="0" rIns="0" tIns="0" bIns="0">
            <a:spAutoFit/>
          </a:bodyPr>
          <a:lstStyle/>
          <a:p>
            <a:pPr algn="ctr"/>
            <a:r>
              <a:rPr sz="2100" b="1">
                <a:solidFill>
                  <a:srgbClr val="FFFFFF"/>
                </a:solidFill>
                <a:latin typeface="Segoe UI"/>
              </a:rPr>
              <a:t>5</a:t>
            </a:r>
          </a:p>
        </p:txBody>
      </p:sp>
      <p:sp>
        <p:nvSpPr>
          <p:cNvPr id="30" name="TextBox 29"/>
          <p:cNvSpPr txBox="1"/>
          <p:nvPr/>
        </p:nvSpPr>
        <p:spPr>
          <a:xfrm>
            <a:off x="2194560" y="4937760"/>
            <a:ext cx="3017520" cy="658368"/>
          </a:xfrm>
          <a:prstGeom prst="rect">
            <a:avLst/>
          </a:prstGeom>
          <a:noFill/>
        </p:spPr>
        <p:txBody>
          <a:bodyPr wrap="square" anchor="ctr" lIns="0" rIns="0" tIns="0" bIns="0">
            <a:spAutoFit/>
          </a:bodyPr>
          <a:lstStyle/>
          <a:p>
            <a:pPr algn="l"/>
            <a:r>
              <a:rPr sz="1650" b="1">
                <a:solidFill>
                  <a:srgbClr val="1A2332"/>
                </a:solidFill>
                <a:latin typeface="Segoe UI"/>
              </a:rPr>
              <a:t>Self-gen</a:t>
            </a:r>
          </a:p>
        </p:txBody>
      </p:sp>
      <p:sp>
        <p:nvSpPr>
          <p:cNvPr id="31" name="TextBox 30"/>
          <p:cNvSpPr txBox="1"/>
          <p:nvPr/>
        </p:nvSpPr>
        <p:spPr>
          <a:xfrm>
            <a:off x="5212080" y="4937760"/>
            <a:ext cx="6153912" cy="658368"/>
          </a:xfrm>
          <a:prstGeom prst="rect">
            <a:avLst/>
          </a:prstGeom>
          <a:noFill/>
        </p:spPr>
        <p:txBody>
          <a:bodyPr wrap="square" anchor="ctr" lIns="0" rIns="0" tIns="0" bIns="0">
            <a:spAutoFit/>
          </a:bodyPr>
          <a:lstStyle/>
          <a:p>
            <a:pPr algn="l"/>
            <a:r>
              <a:rPr sz="1450" b="0">
                <a:solidFill>
                  <a:srgbClr val="5E665E"/>
                </a:solidFill>
                <a:latin typeface="Segoe UI"/>
              </a:rPr>
              <a:t>Do you bring in self-gen and referral deals?</a:t>
            </a:r>
          </a:p>
        </p:txBody>
      </p:sp>
      <p:sp>
        <p:nvSpPr>
          <p:cNvPr id="32" name="TextBox 31"/>
          <p:cNvSpPr txBox="1"/>
          <p:nvPr/>
        </p:nvSpPr>
        <p:spPr>
          <a:xfrm>
            <a:off x="640080" y="5760720"/>
            <a:ext cx="10908792" cy="457200"/>
          </a:xfrm>
          <a:prstGeom prst="rect">
            <a:avLst/>
          </a:prstGeom>
          <a:noFill/>
        </p:spPr>
        <p:txBody>
          <a:bodyPr wrap="square" anchor="ctr" lIns="0" rIns="0" tIns="0" bIns="0">
            <a:spAutoFit/>
          </a:bodyPr>
          <a:lstStyle/>
          <a:p>
            <a:pPr algn="r"/>
            <a:r>
              <a:rPr sz="1500" b="0">
                <a:solidFill>
                  <a:srgbClr val="5E665E"/>
                </a:solidFill>
                <a:latin typeface="Segoe UI"/>
              </a:rPr>
              <a:t>Total </a:t>
            </a:r>
            <a:r>
              <a:rPr sz="1500" b="1">
                <a:solidFill>
                  <a:srgbClr val="1A2332"/>
                </a:solidFill>
                <a:latin typeface="Segoe UI"/>
              </a:rPr>
              <a:t>100</a:t>
            </a:r>
            <a:r>
              <a:rPr sz="1500" b="0">
                <a:solidFill>
                  <a:srgbClr val="5E665E"/>
                </a:solidFill>
                <a:latin typeface="Segoe UI"/>
              </a:rPr>
              <a:t>    The bigger the number, the more it moves your score.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How each measure is calculated</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Each is a simple ratio, scored against its target, then weighted into your score.</a:t>
            </a:r>
          </a:p>
        </p:txBody>
      </p:sp>
      <p:sp>
        <p:nvSpPr>
          <p:cNvPr id="7" name="TextBox 6"/>
          <p:cNvSpPr txBox="1"/>
          <p:nvPr/>
        </p:nvSpPr>
        <p:spPr>
          <a:xfrm>
            <a:off x="4297680" y="1444751"/>
            <a:ext cx="3108960" cy="274320"/>
          </a:xfrm>
          <a:prstGeom prst="rect">
            <a:avLst/>
          </a:prstGeom>
          <a:noFill/>
        </p:spPr>
        <p:txBody>
          <a:bodyPr wrap="square" anchor="t" lIns="0" rIns="0" tIns="0" bIns="0">
            <a:spAutoFit/>
          </a:bodyPr>
          <a:lstStyle/>
          <a:p>
            <a:pPr algn="ctr"/>
            <a:r>
              <a:rPr sz="1150" b="1">
                <a:solidFill>
                  <a:srgbClr val="5E665E"/>
                </a:solidFill>
                <a:latin typeface="Segoe UI"/>
              </a:rPr>
              <a:t>what you got</a:t>
            </a:r>
          </a:p>
        </p:txBody>
      </p:sp>
      <p:sp>
        <p:nvSpPr>
          <p:cNvPr id="8" name="TextBox 7"/>
          <p:cNvSpPr txBox="1"/>
          <p:nvPr/>
        </p:nvSpPr>
        <p:spPr>
          <a:xfrm>
            <a:off x="7955279" y="1444751"/>
            <a:ext cx="3108960" cy="274320"/>
          </a:xfrm>
          <a:prstGeom prst="rect">
            <a:avLst/>
          </a:prstGeom>
          <a:noFill/>
        </p:spPr>
        <p:txBody>
          <a:bodyPr wrap="square" anchor="t" lIns="0" rIns="0" tIns="0" bIns="0">
            <a:spAutoFit/>
          </a:bodyPr>
          <a:lstStyle/>
          <a:p>
            <a:pPr algn="ctr"/>
            <a:r>
              <a:rPr sz="1150" b="1">
                <a:solidFill>
                  <a:srgbClr val="5E665E"/>
                </a:solidFill>
                <a:latin typeface="Segoe UI"/>
              </a:rPr>
              <a:t>out of</a:t>
            </a:r>
          </a:p>
        </p:txBody>
      </p:sp>
      <p:sp>
        <p:nvSpPr>
          <p:cNvPr id="9" name="Rounded Rectangle 8"/>
          <p:cNvSpPr/>
          <p:nvPr/>
        </p:nvSpPr>
        <p:spPr>
          <a:xfrm>
            <a:off x="640080" y="1737360"/>
            <a:ext cx="868680" cy="749808"/>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868680" cy="749808"/>
          </a:xfrm>
          <a:prstGeom prst="rect">
            <a:avLst/>
          </a:prstGeom>
          <a:noFill/>
        </p:spPr>
        <p:txBody>
          <a:bodyPr wrap="square" anchor="ctr" lIns="0" rIns="0" tIns="0" bIns="0">
            <a:spAutoFit/>
          </a:bodyPr>
          <a:lstStyle/>
          <a:p>
            <a:pPr algn="ctr"/>
            <a:r>
              <a:rPr sz="1800" b="1">
                <a:solidFill>
                  <a:srgbClr val="FFFFFF"/>
                </a:solidFill>
                <a:latin typeface="Segoe UI"/>
              </a:rPr>
              <a:t>50</a:t>
            </a:r>
          </a:p>
        </p:txBody>
      </p:sp>
      <p:sp>
        <p:nvSpPr>
          <p:cNvPr id="11" name="TextBox 10"/>
          <p:cNvSpPr txBox="1"/>
          <p:nvPr/>
        </p:nvSpPr>
        <p:spPr>
          <a:xfrm>
            <a:off x="1645920" y="1737360"/>
            <a:ext cx="2468880" cy="749808"/>
          </a:xfrm>
          <a:prstGeom prst="rect">
            <a:avLst/>
          </a:prstGeom>
          <a:noFill/>
        </p:spPr>
        <p:txBody>
          <a:bodyPr wrap="square" anchor="ctr" lIns="0" rIns="0" tIns="0" bIns="0">
            <a:spAutoFit/>
          </a:bodyPr>
          <a:lstStyle/>
          <a:p>
            <a:pPr algn="l"/>
            <a:r>
              <a:rPr sz="1600" b="1">
                <a:solidFill>
                  <a:srgbClr val="1A2332"/>
                </a:solidFill>
                <a:latin typeface="Segoe UI"/>
              </a:rPr>
              <a:t>Effective rate</a:t>
            </a:r>
          </a:p>
        </p:txBody>
      </p:sp>
      <p:sp>
        <p:nvSpPr>
          <p:cNvPr id="12" name="Rounded Rectangle 11"/>
          <p:cNvSpPr/>
          <p:nvPr/>
        </p:nvSpPr>
        <p:spPr>
          <a:xfrm>
            <a:off x="4297680" y="1737360"/>
            <a:ext cx="3108960" cy="749808"/>
          </a:xfrm>
          <a:prstGeom prst="roundRect">
            <a:avLst/>
          </a:prstGeom>
          <a:solidFill>
            <a:srgbClr val="E6F4DA"/>
          </a:solidFill>
          <a:ln w="12700">
            <a:solidFill>
              <a:srgbClr val="5EBA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737360"/>
            <a:ext cx="2926080" cy="749808"/>
          </a:xfrm>
          <a:prstGeom prst="rect">
            <a:avLst/>
          </a:prstGeom>
          <a:noFill/>
        </p:spPr>
        <p:txBody>
          <a:bodyPr wrap="square" anchor="ctr" lIns="0" rIns="0" tIns="0" bIns="0">
            <a:spAutoFit/>
          </a:bodyPr>
          <a:lstStyle/>
          <a:p>
            <a:pPr algn="ctr"/>
            <a:r>
              <a:rPr sz="1350" b="1">
                <a:solidFill>
                  <a:srgbClr val="1A2332"/>
                </a:solidFill>
                <a:latin typeface="Segoe UI"/>
              </a:rPr>
              <a:t>Approved contracts</a:t>
            </a:r>
          </a:p>
        </p:txBody>
      </p:sp>
      <p:sp>
        <p:nvSpPr>
          <p:cNvPr id="14" name="TextBox 13"/>
          <p:cNvSpPr txBox="1"/>
          <p:nvPr/>
        </p:nvSpPr>
        <p:spPr>
          <a:xfrm>
            <a:off x="7452360" y="1737360"/>
            <a:ext cx="457200" cy="749808"/>
          </a:xfrm>
          <a:prstGeom prst="rect">
            <a:avLst/>
          </a:prstGeom>
          <a:noFill/>
        </p:spPr>
        <p:txBody>
          <a:bodyPr wrap="square" anchor="ctr" lIns="0" rIns="0" tIns="0" bIns="0">
            <a:spAutoFit/>
          </a:bodyPr>
          <a:lstStyle/>
          <a:p>
            <a:pPr algn="ctr"/>
            <a:r>
              <a:rPr sz="2200" b="1">
                <a:solidFill>
                  <a:srgbClr val="5E665E"/>
                </a:solidFill>
                <a:latin typeface="Segoe UI"/>
              </a:rPr>
              <a:t>÷</a:t>
            </a:r>
          </a:p>
        </p:txBody>
      </p:sp>
      <p:sp>
        <p:nvSpPr>
          <p:cNvPr id="15" name="Rounded Rectangle 14"/>
          <p:cNvSpPr/>
          <p:nvPr/>
        </p:nvSpPr>
        <p:spPr>
          <a:xfrm>
            <a:off x="7955279" y="1737360"/>
            <a:ext cx="3108960" cy="749808"/>
          </a:xfrm>
          <a:prstGeom prst="roundRect">
            <a:avLst/>
          </a:prstGeom>
          <a:solidFill>
            <a:srgbClr val="EFF1EC"/>
          </a:solidFill>
          <a:ln w="12700">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19" y="1737360"/>
            <a:ext cx="2926080" cy="749808"/>
          </a:xfrm>
          <a:prstGeom prst="rect">
            <a:avLst/>
          </a:prstGeom>
          <a:noFill/>
        </p:spPr>
        <p:txBody>
          <a:bodyPr wrap="square" anchor="ctr" lIns="0" rIns="0" tIns="0" bIns="0">
            <a:spAutoFit/>
          </a:bodyPr>
          <a:lstStyle/>
          <a:p>
            <a:pPr algn="ctr"/>
            <a:r>
              <a:rPr sz="1350" b="0">
                <a:solidFill>
                  <a:srgbClr val="1A2332"/>
                </a:solidFill>
                <a:latin typeface="Segoe UI"/>
              </a:rPr>
              <a:t>Appointments we gave you</a:t>
            </a:r>
          </a:p>
        </p:txBody>
      </p:sp>
      <p:sp>
        <p:nvSpPr>
          <p:cNvPr id="17" name="Rounded Rectangle 16"/>
          <p:cNvSpPr/>
          <p:nvPr/>
        </p:nvSpPr>
        <p:spPr>
          <a:xfrm>
            <a:off x="640080" y="2606039"/>
            <a:ext cx="868680" cy="749808"/>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606039"/>
            <a:ext cx="868680" cy="749808"/>
          </a:xfrm>
          <a:prstGeom prst="rect">
            <a:avLst/>
          </a:prstGeom>
          <a:noFill/>
        </p:spPr>
        <p:txBody>
          <a:bodyPr wrap="square" anchor="ctr" lIns="0" rIns="0" tIns="0" bIns="0">
            <a:spAutoFit/>
          </a:bodyPr>
          <a:lstStyle/>
          <a:p>
            <a:pPr algn="ctr"/>
            <a:r>
              <a:rPr sz="1800" b="1">
                <a:solidFill>
                  <a:srgbClr val="FFFFFF"/>
                </a:solidFill>
                <a:latin typeface="Segoe UI"/>
              </a:rPr>
              <a:t>30</a:t>
            </a:r>
          </a:p>
        </p:txBody>
      </p:sp>
      <p:sp>
        <p:nvSpPr>
          <p:cNvPr id="19" name="TextBox 18"/>
          <p:cNvSpPr txBox="1"/>
          <p:nvPr/>
        </p:nvSpPr>
        <p:spPr>
          <a:xfrm>
            <a:off x="1645920" y="2606039"/>
            <a:ext cx="2468880" cy="749808"/>
          </a:xfrm>
          <a:prstGeom prst="rect">
            <a:avLst/>
          </a:prstGeom>
          <a:noFill/>
        </p:spPr>
        <p:txBody>
          <a:bodyPr wrap="square" anchor="ctr" lIns="0" rIns="0" tIns="0" bIns="0">
            <a:spAutoFit/>
          </a:bodyPr>
          <a:lstStyle/>
          <a:p>
            <a:pPr algn="l"/>
            <a:r>
              <a:rPr sz="1600" b="1">
                <a:solidFill>
                  <a:srgbClr val="1A2332"/>
                </a:solidFill>
                <a:latin typeface="Segoe UI"/>
              </a:rPr>
              <a:t>Pull-through</a:t>
            </a:r>
          </a:p>
        </p:txBody>
      </p:sp>
      <p:sp>
        <p:nvSpPr>
          <p:cNvPr id="20" name="Rounded Rectangle 19"/>
          <p:cNvSpPr/>
          <p:nvPr/>
        </p:nvSpPr>
        <p:spPr>
          <a:xfrm>
            <a:off x="4297680" y="2606039"/>
            <a:ext cx="3108960" cy="749808"/>
          </a:xfrm>
          <a:prstGeom prst="roundRect">
            <a:avLst/>
          </a:prstGeom>
          <a:solidFill>
            <a:srgbClr val="E6F4DA"/>
          </a:solidFill>
          <a:ln w="12700">
            <a:solidFill>
              <a:srgbClr val="5EBA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2606039"/>
            <a:ext cx="2926080" cy="749808"/>
          </a:xfrm>
          <a:prstGeom prst="rect">
            <a:avLst/>
          </a:prstGeom>
          <a:noFill/>
        </p:spPr>
        <p:txBody>
          <a:bodyPr wrap="square" anchor="ctr" lIns="0" rIns="0" tIns="0" bIns="0">
            <a:spAutoFit/>
          </a:bodyPr>
          <a:lstStyle/>
          <a:p>
            <a:pPr algn="ctr"/>
            <a:r>
              <a:rPr sz="1350" b="1">
                <a:solidFill>
                  <a:srgbClr val="1A2332"/>
                </a:solidFill>
                <a:latin typeface="Segoe UI"/>
              </a:rPr>
              <a:t>Signed deals that installed</a:t>
            </a:r>
          </a:p>
        </p:txBody>
      </p:sp>
      <p:sp>
        <p:nvSpPr>
          <p:cNvPr id="22" name="TextBox 21"/>
          <p:cNvSpPr txBox="1"/>
          <p:nvPr/>
        </p:nvSpPr>
        <p:spPr>
          <a:xfrm>
            <a:off x="7452360" y="2606039"/>
            <a:ext cx="457200" cy="749808"/>
          </a:xfrm>
          <a:prstGeom prst="rect">
            <a:avLst/>
          </a:prstGeom>
          <a:noFill/>
        </p:spPr>
        <p:txBody>
          <a:bodyPr wrap="square" anchor="ctr" lIns="0" rIns="0" tIns="0" bIns="0">
            <a:spAutoFit/>
          </a:bodyPr>
          <a:lstStyle/>
          <a:p>
            <a:pPr algn="ctr"/>
            <a:r>
              <a:rPr sz="2200" b="1">
                <a:solidFill>
                  <a:srgbClr val="5E665E"/>
                </a:solidFill>
                <a:latin typeface="Segoe UI"/>
              </a:rPr>
              <a:t>÷</a:t>
            </a:r>
          </a:p>
        </p:txBody>
      </p:sp>
      <p:sp>
        <p:nvSpPr>
          <p:cNvPr id="23" name="Rounded Rectangle 22"/>
          <p:cNvSpPr/>
          <p:nvPr/>
        </p:nvSpPr>
        <p:spPr>
          <a:xfrm>
            <a:off x="7955279" y="2606039"/>
            <a:ext cx="3108960" cy="749808"/>
          </a:xfrm>
          <a:prstGeom prst="roundRect">
            <a:avLst/>
          </a:prstGeom>
          <a:solidFill>
            <a:srgbClr val="EFF1EC"/>
          </a:solidFill>
          <a:ln w="12700">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19" y="2606039"/>
            <a:ext cx="2926080" cy="749808"/>
          </a:xfrm>
          <a:prstGeom prst="rect">
            <a:avLst/>
          </a:prstGeom>
          <a:noFill/>
        </p:spPr>
        <p:txBody>
          <a:bodyPr wrap="square" anchor="ctr" lIns="0" rIns="0" tIns="0" bIns="0">
            <a:spAutoFit/>
          </a:bodyPr>
          <a:lstStyle/>
          <a:p>
            <a:pPr algn="ctr"/>
            <a:r>
              <a:rPr sz="1350" b="0">
                <a:solidFill>
                  <a:srgbClr val="1A2332"/>
                </a:solidFill>
                <a:latin typeface="Segoe UI"/>
              </a:rPr>
              <a:t>The deals you signed</a:t>
            </a:r>
          </a:p>
        </p:txBody>
      </p:sp>
      <p:sp>
        <p:nvSpPr>
          <p:cNvPr id="25" name="Rounded Rectangle 24"/>
          <p:cNvSpPr/>
          <p:nvPr/>
        </p:nvSpPr>
        <p:spPr>
          <a:xfrm>
            <a:off x="640080" y="3474720"/>
            <a:ext cx="868680" cy="749808"/>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474720"/>
            <a:ext cx="868680" cy="749808"/>
          </a:xfrm>
          <a:prstGeom prst="rect">
            <a:avLst/>
          </a:prstGeom>
          <a:noFill/>
        </p:spPr>
        <p:txBody>
          <a:bodyPr wrap="square" anchor="ctr" lIns="0" rIns="0" tIns="0" bIns="0">
            <a:spAutoFit/>
          </a:bodyPr>
          <a:lstStyle/>
          <a:p>
            <a:pPr algn="ctr"/>
            <a:r>
              <a:rPr sz="1800" b="1">
                <a:solidFill>
                  <a:srgbClr val="FFFFFF"/>
                </a:solidFill>
                <a:latin typeface="Segoe UI"/>
              </a:rPr>
              <a:t>10</a:t>
            </a:r>
          </a:p>
        </p:txBody>
      </p:sp>
      <p:sp>
        <p:nvSpPr>
          <p:cNvPr id="27" name="TextBox 26"/>
          <p:cNvSpPr txBox="1"/>
          <p:nvPr/>
        </p:nvSpPr>
        <p:spPr>
          <a:xfrm>
            <a:off x="1645920" y="3474720"/>
            <a:ext cx="2468880" cy="749808"/>
          </a:xfrm>
          <a:prstGeom prst="rect">
            <a:avLst/>
          </a:prstGeom>
          <a:noFill/>
        </p:spPr>
        <p:txBody>
          <a:bodyPr wrap="square" anchor="ctr" lIns="0" rIns="0" tIns="0" bIns="0">
            <a:spAutoFit/>
          </a:bodyPr>
          <a:lstStyle/>
          <a:p>
            <a:pPr algn="l"/>
            <a:r>
              <a:rPr sz="1600" b="1">
                <a:solidFill>
                  <a:srgbClr val="1A2332"/>
                </a:solidFill>
                <a:latin typeface="Segoe UI"/>
              </a:rPr>
              <a:t>Attachment</a:t>
            </a:r>
          </a:p>
        </p:txBody>
      </p:sp>
      <p:sp>
        <p:nvSpPr>
          <p:cNvPr id="28" name="Rounded Rectangle 27"/>
          <p:cNvSpPr/>
          <p:nvPr/>
        </p:nvSpPr>
        <p:spPr>
          <a:xfrm>
            <a:off x="4297680" y="3474720"/>
            <a:ext cx="3108960" cy="749808"/>
          </a:xfrm>
          <a:prstGeom prst="roundRect">
            <a:avLst/>
          </a:prstGeom>
          <a:solidFill>
            <a:srgbClr val="DDF1FB"/>
          </a:solidFill>
          <a:ln w="12700">
            <a:solidFill>
              <a:srgbClr val="29A9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0" y="3474720"/>
            <a:ext cx="2926080" cy="749808"/>
          </a:xfrm>
          <a:prstGeom prst="rect">
            <a:avLst/>
          </a:prstGeom>
          <a:noFill/>
        </p:spPr>
        <p:txBody>
          <a:bodyPr wrap="square" anchor="ctr" lIns="0" rIns="0" tIns="0" bIns="0">
            <a:spAutoFit/>
          </a:bodyPr>
          <a:lstStyle/>
          <a:p>
            <a:pPr algn="ctr"/>
            <a:r>
              <a:rPr sz="1350" b="1">
                <a:solidFill>
                  <a:srgbClr val="1A2332"/>
                </a:solidFill>
                <a:latin typeface="Segoe UI"/>
              </a:rPr>
              <a:t>Roof and battery add-ons</a:t>
            </a:r>
          </a:p>
        </p:txBody>
      </p:sp>
      <p:sp>
        <p:nvSpPr>
          <p:cNvPr id="30" name="TextBox 29"/>
          <p:cNvSpPr txBox="1"/>
          <p:nvPr/>
        </p:nvSpPr>
        <p:spPr>
          <a:xfrm>
            <a:off x="7452360" y="3474720"/>
            <a:ext cx="457200" cy="749808"/>
          </a:xfrm>
          <a:prstGeom prst="rect">
            <a:avLst/>
          </a:prstGeom>
          <a:noFill/>
        </p:spPr>
        <p:txBody>
          <a:bodyPr wrap="square" anchor="ctr" lIns="0" rIns="0" tIns="0" bIns="0">
            <a:spAutoFit/>
          </a:bodyPr>
          <a:lstStyle/>
          <a:p>
            <a:pPr algn="ctr"/>
            <a:r>
              <a:rPr sz="2200" b="1">
                <a:solidFill>
                  <a:srgbClr val="5E665E"/>
                </a:solidFill>
                <a:latin typeface="Segoe UI"/>
              </a:rPr>
              <a:t>÷</a:t>
            </a:r>
          </a:p>
        </p:txBody>
      </p:sp>
      <p:sp>
        <p:nvSpPr>
          <p:cNvPr id="31" name="Rounded Rectangle 30"/>
          <p:cNvSpPr/>
          <p:nvPr/>
        </p:nvSpPr>
        <p:spPr>
          <a:xfrm>
            <a:off x="7955279" y="3474720"/>
            <a:ext cx="3108960" cy="749808"/>
          </a:xfrm>
          <a:prstGeom prst="roundRect">
            <a:avLst/>
          </a:prstGeom>
          <a:solidFill>
            <a:srgbClr val="EFF1EC"/>
          </a:solidFill>
          <a:ln w="12700">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19" y="3474720"/>
            <a:ext cx="2926080" cy="749808"/>
          </a:xfrm>
          <a:prstGeom prst="rect">
            <a:avLst/>
          </a:prstGeom>
          <a:noFill/>
        </p:spPr>
        <p:txBody>
          <a:bodyPr wrap="square" anchor="ctr" lIns="0" rIns="0" tIns="0" bIns="0">
            <a:spAutoFit/>
          </a:bodyPr>
          <a:lstStyle/>
          <a:p>
            <a:pPr algn="ctr"/>
            <a:r>
              <a:rPr sz="1350" b="0">
                <a:solidFill>
                  <a:srgbClr val="1A2332"/>
                </a:solidFill>
                <a:latin typeface="Segoe UI"/>
              </a:rPr>
              <a:t>Solar contracts</a:t>
            </a:r>
          </a:p>
        </p:txBody>
      </p:sp>
      <p:sp>
        <p:nvSpPr>
          <p:cNvPr id="33" name="Rounded Rectangle 32"/>
          <p:cNvSpPr/>
          <p:nvPr/>
        </p:nvSpPr>
        <p:spPr>
          <a:xfrm>
            <a:off x="640080" y="4343400"/>
            <a:ext cx="868680" cy="749808"/>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343400"/>
            <a:ext cx="868680" cy="749808"/>
          </a:xfrm>
          <a:prstGeom prst="rect">
            <a:avLst/>
          </a:prstGeom>
          <a:noFill/>
        </p:spPr>
        <p:txBody>
          <a:bodyPr wrap="square" anchor="ctr" lIns="0" rIns="0" tIns="0" bIns="0">
            <a:spAutoFit/>
          </a:bodyPr>
          <a:lstStyle/>
          <a:p>
            <a:pPr algn="ctr"/>
            <a:r>
              <a:rPr sz="1800" b="1">
                <a:solidFill>
                  <a:srgbClr val="FFFFFF"/>
                </a:solidFill>
                <a:latin typeface="Segoe UI"/>
              </a:rPr>
              <a:t>5</a:t>
            </a:r>
          </a:p>
        </p:txBody>
      </p:sp>
      <p:sp>
        <p:nvSpPr>
          <p:cNvPr id="35" name="TextBox 34"/>
          <p:cNvSpPr txBox="1"/>
          <p:nvPr/>
        </p:nvSpPr>
        <p:spPr>
          <a:xfrm>
            <a:off x="1645920" y="4343400"/>
            <a:ext cx="2468880" cy="749808"/>
          </a:xfrm>
          <a:prstGeom prst="rect">
            <a:avLst/>
          </a:prstGeom>
          <a:noFill/>
        </p:spPr>
        <p:txBody>
          <a:bodyPr wrap="square" anchor="ctr" lIns="0" rIns="0" tIns="0" bIns="0">
            <a:spAutoFit/>
          </a:bodyPr>
          <a:lstStyle/>
          <a:p>
            <a:pPr algn="l"/>
            <a:r>
              <a:rPr sz="1600" b="1">
                <a:solidFill>
                  <a:srgbClr val="1A2332"/>
                </a:solidFill>
                <a:latin typeface="Segoe UI"/>
              </a:rPr>
              <a:t>Pricing</a:t>
            </a:r>
          </a:p>
        </p:txBody>
      </p:sp>
      <p:sp>
        <p:nvSpPr>
          <p:cNvPr id="36" name="Rounded Rectangle 35"/>
          <p:cNvSpPr/>
          <p:nvPr/>
        </p:nvSpPr>
        <p:spPr>
          <a:xfrm>
            <a:off x="4297680" y="4343400"/>
            <a:ext cx="3108960" cy="749808"/>
          </a:xfrm>
          <a:prstGeom prst="roundRect">
            <a:avLst/>
          </a:prstGeom>
          <a:solidFill>
            <a:srgbClr val="DDF1FB"/>
          </a:solidFill>
          <a:ln w="12700">
            <a:solidFill>
              <a:srgbClr val="29A9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0" y="4343400"/>
            <a:ext cx="2926080" cy="749808"/>
          </a:xfrm>
          <a:prstGeom prst="rect">
            <a:avLst/>
          </a:prstGeom>
          <a:noFill/>
        </p:spPr>
        <p:txBody>
          <a:bodyPr wrap="square" anchor="ctr" lIns="0" rIns="0" tIns="0" bIns="0">
            <a:spAutoFit/>
          </a:bodyPr>
          <a:lstStyle/>
          <a:p>
            <a:pPr algn="ctr"/>
            <a:r>
              <a:rPr sz="1350" b="1">
                <a:solidFill>
                  <a:srgbClr val="1A2332"/>
                </a:solidFill>
                <a:latin typeface="Segoe UI"/>
              </a:rPr>
              <a:t>Contracts at target price</a:t>
            </a:r>
          </a:p>
        </p:txBody>
      </p:sp>
      <p:sp>
        <p:nvSpPr>
          <p:cNvPr id="38" name="TextBox 37"/>
          <p:cNvSpPr txBox="1"/>
          <p:nvPr/>
        </p:nvSpPr>
        <p:spPr>
          <a:xfrm>
            <a:off x="7452360" y="4343400"/>
            <a:ext cx="457200" cy="749808"/>
          </a:xfrm>
          <a:prstGeom prst="rect">
            <a:avLst/>
          </a:prstGeom>
          <a:noFill/>
        </p:spPr>
        <p:txBody>
          <a:bodyPr wrap="square" anchor="ctr" lIns="0" rIns="0" tIns="0" bIns="0">
            <a:spAutoFit/>
          </a:bodyPr>
          <a:lstStyle/>
          <a:p>
            <a:pPr algn="ctr"/>
            <a:r>
              <a:rPr sz="2200" b="1">
                <a:solidFill>
                  <a:srgbClr val="5E665E"/>
                </a:solidFill>
                <a:latin typeface="Segoe UI"/>
              </a:rPr>
              <a:t>÷</a:t>
            </a:r>
          </a:p>
        </p:txBody>
      </p:sp>
      <p:sp>
        <p:nvSpPr>
          <p:cNvPr id="39" name="Rounded Rectangle 38"/>
          <p:cNvSpPr/>
          <p:nvPr/>
        </p:nvSpPr>
        <p:spPr>
          <a:xfrm>
            <a:off x="7955279" y="4343400"/>
            <a:ext cx="3108960" cy="749808"/>
          </a:xfrm>
          <a:prstGeom prst="roundRect">
            <a:avLst/>
          </a:prstGeom>
          <a:solidFill>
            <a:srgbClr val="EFF1EC"/>
          </a:solidFill>
          <a:ln w="12700">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19" y="4343400"/>
            <a:ext cx="2926080" cy="749808"/>
          </a:xfrm>
          <a:prstGeom prst="rect">
            <a:avLst/>
          </a:prstGeom>
          <a:noFill/>
        </p:spPr>
        <p:txBody>
          <a:bodyPr wrap="square" anchor="ctr" lIns="0" rIns="0" tIns="0" bIns="0">
            <a:spAutoFit/>
          </a:bodyPr>
          <a:lstStyle/>
          <a:p>
            <a:pPr algn="ctr"/>
            <a:r>
              <a:rPr sz="1350" b="0">
                <a:solidFill>
                  <a:srgbClr val="1A2332"/>
                </a:solidFill>
                <a:latin typeface="Segoe UI"/>
              </a:rPr>
              <a:t>All your contracts</a:t>
            </a:r>
          </a:p>
        </p:txBody>
      </p:sp>
      <p:sp>
        <p:nvSpPr>
          <p:cNvPr id="41" name="Rounded Rectangle 40"/>
          <p:cNvSpPr/>
          <p:nvPr/>
        </p:nvSpPr>
        <p:spPr>
          <a:xfrm>
            <a:off x="640080" y="5212079"/>
            <a:ext cx="868680" cy="749808"/>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212079"/>
            <a:ext cx="868680" cy="749808"/>
          </a:xfrm>
          <a:prstGeom prst="rect">
            <a:avLst/>
          </a:prstGeom>
          <a:noFill/>
        </p:spPr>
        <p:txBody>
          <a:bodyPr wrap="square" anchor="ctr" lIns="0" rIns="0" tIns="0" bIns="0">
            <a:spAutoFit/>
          </a:bodyPr>
          <a:lstStyle/>
          <a:p>
            <a:pPr algn="ctr"/>
            <a:r>
              <a:rPr sz="1800" b="1">
                <a:solidFill>
                  <a:srgbClr val="FFFFFF"/>
                </a:solidFill>
                <a:latin typeface="Segoe UI"/>
              </a:rPr>
              <a:t>5</a:t>
            </a:r>
          </a:p>
        </p:txBody>
      </p:sp>
      <p:sp>
        <p:nvSpPr>
          <p:cNvPr id="43" name="TextBox 42"/>
          <p:cNvSpPr txBox="1"/>
          <p:nvPr/>
        </p:nvSpPr>
        <p:spPr>
          <a:xfrm>
            <a:off x="1645920" y="5212079"/>
            <a:ext cx="2468880" cy="749808"/>
          </a:xfrm>
          <a:prstGeom prst="rect">
            <a:avLst/>
          </a:prstGeom>
          <a:noFill/>
        </p:spPr>
        <p:txBody>
          <a:bodyPr wrap="square" anchor="ctr" lIns="0" rIns="0" tIns="0" bIns="0">
            <a:spAutoFit/>
          </a:bodyPr>
          <a:lstStyle/>
          <a:p>
            <a:pPr algn="l"/>
            <a:r>
              <a:rPr sz="1600" b="1">
                <a:solidFill>
                  <a:srgbClr val="1A2332"/>
                </a:solidFill>
                <a:latin typeface="Segoe UI"/>
              </a:rPr>
              <a:t>Self-gen</a:t>
            </a:r>
          </a:p>
        </p:txBody>
      </p:sp>
      <p:sp>
        <p:nvSpPr>
          <p:cNvPr id="44" name="Rounded Rectangle 43"/>
          <p:cNvSpPr/>
          <p:nvPr/>
        </p:nvSpPr>
        <p:spPr>
          <a:xfrm>
            <a:off x="4297680" y="5212079"/>
            <a:ext cx="3108960" cy="749808"/>
          </a:xfrm>
          <a:prstGeom prst="roundRect">
            <a:avLst/>
          </a:prstGeom>
          <a:solidFill>
            <a:srgbClr val="DDF1FB"/>
          </a:solidFill>
          <a:ln w="12700">
            <a:solidFill>
              <a:srgbClr val="29A9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89120" y="5212079"/>
            <a:ext cx="2926080" cy="749808"/>
          </a:xfrm>
          <a:prstGeom prst="rect">
            <a:avLst/>
          </a:prstGeom>
          <a:noFill/>
        </p:spPr>
        <p:txBody>
          <a:bodyPr wrap="square" anchor="ctr" lIns="0" rIns="0" tIns="0" bIns="0">
            <a:spAutoFit/>
          </a:bodyPr>
          <a:lstStyle/>
          <a:p>
            <a:pPr algn="ctr"/>
            <a:r>
              <a:rPr sz="1350" b="1">
                <a:solidFill>
                  <a:srgbClr val="1A2332"/>
                </a:solidFill>
                <a:latin typeface="Segoe UI"/>
              </a:rPr>
              <a:t>Self-gen and referral deals</a:t>
            </a:r>
          </a:p>
        </p:txBody>
      </p:sp>
      <p:sp>
        <p:nvSpPr>
          <p:cNvPr id="46" name="TextBox 45"/>
          <p:cNvSpPr txBox="1"/>
          <p:nvPr/>
        </p:nvSpPr>
        <p:spPr>
          <a:xfrm>
            <a:off x="7452360" y="5212079"/>
            <a:ext cx="457200" cy="749808"/>
          </a:xfrm>
          <a:prstGeom prst="rect">
            <a:avLst/>
          </a:prstGeom>
          <a:noFill/>
        </p:spPr>
        <p:txBody>
          <a:bodyPr wrap="square" anchor="ctr" lIns="0" rIns="0" tIns="0" bIns="0">
            <a:spAutoFit/>
          </a:bodyPr>
          <a:lstStyle/>
          <a:p>
            <a:pPr algn="ctr"/>
            <a:r>
              <a:rPr sz="2200" b="1">
                <a:solidFill>
                  <a:srgbClr val="5E665E"/>
                </a:solidFill>
                <a:latin typeface="Segoe UI"/>
              </a:rPr>
              <a:t>÷</a:t>
            </a:r>
          </a:p>
        </p:txBody>
      </p:sp>
      <p:sp>
        <p:nvSpPr>
          <p:cNvPr id="47" name="Rounded Rectangle 46"/>
          <p:cNvSpPr/>
          <p:nvPr/>
        </p:nvSpPr>
        <p:spPr>
          <a:xfrm>
            <a:off x="7955279" y="5212079"/>
            <a:ext cx="3108960" cy="749808"/>
          </a:xfrm>
          <a:prstGeom prst="roundRect">
            <a:avLst/>
          </a:prstGeom>
          <a:solidFill>
            <a:srgbClr val="EFF1EC"/>
          </a:solidFill>
          <a:ln w="12700">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6719" y="5212079"/>
            <a:ext cx="2926080" cy="749808"/>
          </a:xfrm>
          <a:prstGeom prst="rect">
            <a:avLst/>
          </a:prstGeom>
          <a:noFill/>
        </p:spPr>
        <p:txBody>
          <a:bodyPr wrap="square" anchor="ctr" lIns="0" rIns="0" tIns="0" bIns="0">
            <a:spAutoFit/>
          </a:bodyPr>
          <a:lstStyle/>
          <a:p>
            <a:pPr algn="ctr"/>
            <a:r>
              <a:rPr sz="1350" b="0">
                <a:solidFill>
                  <a:srgbClr val="1A2332"/>
                </a:solidFill>
                <a:latin typeface="Segoe UI"/>
              </a:rPr>
              <a:t>All your contracts</a:t>
            </a:r>
          </a:p>
        </p:txBody>
      </p:sp>
      <p:sp>
        <p:nvSpPr>
          <p:cNvPr id="49" name="TextBox 48"/>
          <p:cNvSpPr txBox="1"/>
          <p:nvPr/>
        </p:nvSpPr>
        <p:spPr>
          <a:xfrm>
            <a:off x="640080" y="6062472"/>
            <a:ext cx="10908792" cy="685800"/>
          </a:xfrm>
          <a:prstGeom prst="rect">
            <a:avLst/>
          </a:prstGeom>
          <a:noFill/>
        </p:spPr>
        <p:txBody>
          <a:bodyPr wrap="square" anchor="t" lIns="0" rIns="0" tIns="0" bIns="0">
            <a:spAutoFit/>
          </a:bodyPr>
          <a:lstStyle/>
          <a:p>
            <a:pPr algn="l">
              <a:spcAft>
                <a:spcPts val="400"/>
              </a:spcAft>
            </a:pPr>
            <a:r>
              <a:rPr sz="1200" b="0">
                <a:solidFill>
                  <a:srgbClr val="5E665E"/>
                </a:solidFill>
                <a:latin typeface="Segoe UI"/>
              </a:rPr>
              <a:t>Pull-through ties each signed deal to its own install date, not all installs against all contracts.</a:t>
            </a:r>
          </a:p>
          <a:p>
            <a:pPr algn="l">
              <a:spcAft>
                <a:spcPts val="400"/>
              </a:spcAft>
            </a:pPr>
            <a:r>
              <a:rPr sz="1200" b="0">
                <a:solidFill>
                  <a:srgbClr val="5E665E"/>
                </a:solidFill>
                <a:latin typeface="Segoe UI"/>
              </a:rPr>
              <a:t>Attachment counts by category: roof and battery each add once, no matter how many (up to two add-ons).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How the score adds up</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Each rate is scored against its target, then weighted. Hit target, earn full weight.</a:t>
            </a:r>
          </a:p>
        </p:txBody>
      </p:sp>
      <p:sp>
        <p:nvSpPr>
          <p:cNvPr id="7" name="TextBox 6"/>
          <p:cNvSpPr txBox="1"/>
          <p:nvPr/>
        </p:nvSpPr>
        <p:spPr>
          <a:xfrm>
            <a:off x="5852160" y="1645920"/>
            <a:ext cx="2194560" cy="274320"/>
          </a:xfrm>
          <a:prstGeom prst="rect">
            <a:avLst/>
          </a:prstGeom>
          <a:noFill/>
        </p:spPr>
        <p:txBody>
          <a:bodyPr wrap="square" anchor="t" lIns="0" rIns="0" tIns="0" bIns="0">
            <a:spAutoFit/>
          </a:bodyPr>
          <a:lstStyle/>
          <a:p>
            <a:pPr algn="ctr"/>
            <a:r>
              <a:rPr sz="1250" b="1">
                <a:solidFill>
                  <a:srgbClr val="5E665E"/>
                </a:solidFill>
                <a:latin typeface="Segoe UI"/>
              </a:rPr>
              <a:t>TARGET</a:t>
            </a:r>
          </a:p>
        </p:txBody>
      </p:sp>
      <p:sp>
        <p:nvSpPr>
          <p:cNvPr id="8" name="TextBox 7"/>
          <p:cNvSpPr txBox="1"/>
          <p:nvPr/>
        </p:nvSpPr>
        <p:spPr>
          <a:xfrm>
            <a:off x="5852160" y="1810512"/>
            <a:ext cx="2194560" cy="228600"/>
          </a:xfrm>
          <a:prstGeom prst="rect">
            <a:avLst/>
          </a:prstGeom>
          <a:noFill/>
        </p:spPr>
        <p:txBody>
          <a:bodyPr wrap="square" anchor="t" lIns="0" rIns="0" tIns="0" bIns="0">
            <a:spAutoFit/>
          </a:bodyPr>
          <a:lstStyle/>
          <a:p>
            <a:pPr algn="ctr"/>
            <a:r>
              <a:rPr sz="1050" b="0">
                <a:solidFill>
                  <a:srgbClr val="5E665E"/>
                </a:solidFill>
                <a:latin typeface="Segoe UI"/>
              </a:rPr>
              <a:t>(full marks)</a:t>
            </a:r>
          </a:p>
        </p:txBody>
      </p:sp>
      <p:sp>
        <p:nvSpPr>
          <p:cNvPr id="9" name="TextBox 8"/>
          <p:cNvSpPr txBox="1"/>
          <p:nvPr/>
        </p:nvSpPr>
        <p:spPr>
          <a:xfrm>
            <a:off x="9052560" y="1645920"/>
            <a:ext cx="2194560" cy="274320"/>
          </a:xfrm>
          <a:prstGeom prst="rect">
            <a:avLst/>
          </a:prstGeom>
          <a:noFill/>
        </p:spPr>
        <p:txBody>
          <a:bodyPr wrap="square" anchor="t" lIns="0" rIns="0" tIns="0" bIns="0">
            <a:spAutoFit/>
          </a:bodyPr>
          <a:lstStyle/>
          <a:p>
            <a:pPr algn="ctr"/>
            <a:r>
              <a:rPr sz="1250" b="1">
                <a:solidFill>
                  <a:srgbClr val="5E665E"/>
                </a:solidFill>
                <a:latin typeface="Segoe UI"/>
              </a:rPr>
              <a:t>WEIGHT</a:t>
            </a:r>
          </a:p>
        </p:txBody>
      </p:sp>
      <p:sp>
        <p:nvSpPr>
          <p:cNvPr id="10" name="Rounded Rectangle 9"/>
          <p:cNvSpPr/>
          <p:nvPr/>
        </p:nvSpPr>
        <p:spPr>
          <a:xfrm>
            <a:off x="640080" y="2121408"/>
            <a:ext cx="10908792" cy="621792"/>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121408"/>
            <a:ext cx="4937760" cy="621792"/>
          </a:xfrm>
          <a:prstGeom prst="rect">
            <a:avLst/>
          </a:prstGeom>
          <a:noFill/>
        </p:spPr>
        <p:txBody>
          <a:bodyPr wrap="square" anchor="ctr" lIns="0" rIns="0" tIns="0" bIns="0">
            <a:spAutoFit/>
          </a:bodyPr>
          <a:lstStyle/>
          <a:p>
            <a:pPr algn="l"/>
            <a:r>
              <a:rPr sz="1650" b="1">
                <a:solidFill>
                  <a:srgbClr val="1A2332"/>
                </a:solidFill>
                <a:latin typeface="Segoe UI"/>
              </a:rPr>
              <a:t>Effective rate</a:t>
            </a:r>
          </a:p>
        </p:txBody>
      </p:sp>
      <p:sp>
        <p:nvSpPr>
          <p:cNvPr id="12" name="Rounded Rectangle 11"/>
          <p:cNvSpPr/>
          <p:nvPr/>
        </p:nvSpPr>
        <p:spPr>
          <a:xfrm>
            <a:off x="5852160" y="2221991"/>
            <a:ext cx="2194560" cy="420624"/>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0" y="2221991"/>
            <a:ext cx="2194560" cy="420624"/>
          </a:xfrm>
          <a:prstGeom prst="rect">
            <a:avLst/>
          </a:prstGeom>
          <a:noFill/>
        </p:spPr>
        <p:txBody>
          <a:bodyPr wrap="square" anchor="ctr" lIns="0" rIns="0" tIns="0" bIns="0">
            <a:spAutoFit/>
          </a:bodyPr>
          <a:lstStyle/>
          <a:p>
            <a:pPr algn="ctr"/>
            <a:r>
              <a:rPr sz="1600" b="1">
                <a:solidFill>
                  <a:srgbClr val="FFFFFF"/>
                </a:solidFill>
                <a:latin typeface="Segoe UI"/>
              </a:rPr>
              <a:t>30%</a:t>
            </a:r>
          </a:p>
        </p:txBody>
      </p:sp>
      <p:sp>
        <p:nvSpPr>
          <p:cNvPr id="14" name="Rounded Rectangle 13"/>
          <p:cNvSpPr/>
          <p:nvPr/>
        </p:nvSpPr>
        <p:spPr>
          <a:xfrm>
            <a:off x="9052560" y="2221991"/>
            <a:ext cx="2194560" cy="420624"/>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0" y="2221991"/>
            <a:ext cx="2194560" cy="420624"/>
          </a:xfrm>
          <a:prstGeom prst="rect">
            <a:avLst/>
          </a:prstGeom>
          <a:noFill/>
        </p:spPr>
        <p:txBody>
          <a:bodyPr wrap="square" anchor="ctr" lIns="0" rIns="0" tIns="0" bIns="0">
            <a:spAutoFit/>
          </a:bodyPr>
          <a:lstStyle/>
          <a:p>
            <a:pPr algn="ctr"/>
            <a:r>
              <a:rPr sz="1600" b="1">
                <a:solidFill>
                  <a:srgbClr val="FFFFFF"/>
                </a:solidFill>
                <a:latin typeface="Segoe UI"/>
              </a:rPr>
              <a:t>50</a:t>
            </a:r>
          </a:p>
        </p:txBody>
      </p:sp>
      <p:sp>
        <p:nvSpPr>
          <p:cNvPr id="16" name="Rounded Rectangle 15"/>
          <p:cNvSpPr/>
          <p:nvPr/>
        </p:nvSpPr>
        <p:spPr>
          <a:xfrm>
            <a:off x="640080" y="2852928"/>
            <a:ext cx="10908792" cy="621792"/>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52928"/>
            <a:ext cx="4937760" cy="621792"/>
          </a:xfrm>
          <a:prstGeom prst="rect">
            <a:avLst/>
          </a:prstGeom>
          <a:noFill/>
        </p:spPr>
        <p:txBody>
          <a:bodyPr wrap="square" anchor="ctr" lIns="0" rIns="0" tIns="0" bIns="0">
            <a:spAutoFit/>
          </a:bodyPr>
          <a:lstStyle/>
          <a:p>
            <a:pPr algn="l"/>
            <a:r>
              <a:rPr sz="1650" b="1">
                <a:solidFill>
                  <a:srgbClr val="1A2332"/>
                </a:solidFill>
                <a:latin typeface="Segoe UI"/>
              </a:rPr>
              <a:t>Pull-through</a:t>
            </a:r>
          </a:p>
        </p:txBody>
      </p:sp>
      <p:sp>
        <p:nvSpPr>
          <p:cNvPr id="18" name="Rounded Rectangle 17"/>
          <p:cNvSpPr/>
          <p:nvPr/>
        </p:nvSpPr>
        <p:spPr>
          <a:xfrm>
            <a:off x="5852160" y="2953512"/>
            <a:ext cx="2194560" cy="420624"/>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52160" y="2953512"/>
            <a:ext cx="2194560" cy="420624"/>
          </a:xfrm>
          <a:prstGeom prst="rect">
            <a:avLst/>
          </a:prstGeom>
          <a:noFill/>
        </p:spPr>
        <p:txBody>
          <a:bodyPr wrap="square" anchor="ctr" lIns="0" rIns="0" tIns="0" bIns="0">
            <a:spAutoFit/>
          </a:bodyPr>
          <a:lstStyle/>
          <a:p>
            <a:pPr algn="ctr"/>
            <a:r>
              <a:rPr sz="1600" b="1">
                <a:solidFill>
                  <a:srgbClr val="FFFFFF"/>
                </a:solidFill>
                <a:latin typeface="Segoe UI"/>
              </a:rPr>
              <a:t>80%</a:t>
            </a:r>
          </a:p>
        </p:txBody>
      </p:sp>
      <p:sp>
        <p:nvSpPr>
          <p:cNvPr id="20" name="Rounded Rectangle 19"/>
          <p:cNvSpPr/>
          <p:nvPr/>
        </p:nvSpPr>
        <p:spPr>
          <a:xfrm>
            <a:off x="9052560" y="2953512"/>
            <a:ext cx="2194560" cy="420624"/>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0" y="2953512"/>
            <a:ext cx="2194560" cy="420624"/>
          </a:xfrm>
          <a:prstGeom prst="rect">
            <a:avLst/>
          </a:prstGeom>
          <a:noFill/>
        </p:spPr>
        <p:txBody>
          <a:bodyPr wrap="square" anchor="ctr" lIns="0" rIns="0" tIns="0" bIns="0">
            <a:spAutoFit/>
          </a:bodyPr>
          <a:lstStyle/>
          <a:p>
            <a:pPr algn="ctr"/>
            <a:r>
              <a:rPr sz="1600" b="1">
                <a:solidFill>
                  <a:srgbClr val="FFFFFF"/>
                </a:solidFill>
                <a:latin typeface="Segoe UI"/>
              </a:rPr>
              <a:t>30</a:t>
            </a:r>
          </a:p>
        </p:txBody>
      </p:sp>
      <p:sp>
        <p:nvSpPr>
          <p:cNvPr id="22" name="Rounded Rectangle 21"/>
          <p:cNvSpPr/>
          <p:nvPr/>
        </p:nvSpPr>
        <p:spPr>
          <a:xfrm>
            <a:off x="640080" y="3584448"/>
            <a:ext cx="10908792" cy="621792"/>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3584448"/>
            <a:ext cx="4937760" cy="621792"/>
          </a:xfrm>
          <a:prstGeom prst="rect">
            <a:avLst/>
          </a:prstGeom>
          <a:noFill/>
        </p:spPr>
        <p:txBody>
          <a:bodyPr wrap="square" anchor="ctr" lIns="0" rIns="0" tIns="0" bIns="0">
            <a:spAutoFit/>
          </a:bodyPr>
          <a:lstStyle/>
          <a:p>
            <a:pPr algn="l"/>
            <a:r>
              <a:rPr sz="1650" b="1">
                <a:solidFill>
                  <a:srgbClr val="1A2332"/>
                </a:solidFill>
                <a:latin typeface="Segoe UI"/>
              </a:rPr>
              <a:t>Attachment</a:t>
            </a:r>
          </a:p>
        </p:txBody>
      </p:sp>
      <p:sp>
        <p:nvSpPr>
          <p:cNvPr id="24" name="Rounded Rectangle 23"/>
          <p:cNvSpPr/>
          <p:nvPr/>
        </p:nvSpPr>
        <p:spPr>
          <a:xfrm>
            <a:off x="5852160" y="3685032"/>
            <a:ext cx="2194560" cy="420624"/>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52160" y="3685032"/>
            <a:ext cx="2194560" cy="420624"/>
          </a:xfrm>
          <a:prstGeom prst="rect">
            <a:avLst/>
          </a:prstGeom>
          <a:noFill/>
        </p:spPr>
        <p:txBody>
          <a:bodyPr wrap="square" anchor="ctr" lIns="0" rIns="0" tIns="0" bIns="0">
            <a:spAutoFit/>
          </a:bodyPr>
          <a:lstStyle/>
          <a:p>
            <a:pPr algn="ctr"/>
            <a:r>
              <a:rPr sz="1600" b="1">
                <a:solidFill>
                  <a:srgbClr val="FFFFFF"/>
                </a:solidFill>
                <a:latin typeface="Segoe UI"/>
              </a:rPr>
              <a:t>30%</a:t>
            </a:r>
          </a:p>
        </p:txBody>
      </p:sp>
      <p:sp>
        <p:nvSpPr>
          <p:cNvPr id="26" name="Rounded Rectangle 25"/>
          <p:cNvSpPr/>
          <p:nvPr/>
        </p:nvSpPr>
        <p:spPr>
          <a:xfrm>
            <a:off x="9052560" y="3685032"/>
            <a:ext cx="2194560" cy="420624"/>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52560" y="3685032"/>
            <a:ext cx="2194560" cy="420624"/>
          </a:xfrm>
          <a:prstGeom prst="rect">
            <a:avLst/>
          </a:prstGeom>
          <a:noFill/>
        </p:spPr>
        <p:txBody>
          <a:bodyPr wrap="square" anchor="ctr" lIns="0" rIns="0" tIns="0" bIns="0">
            <a:spAutoFit/>
          </a:bodyPr>
          <a:lstStyle/>
          <a:p>
            <a:pPr algn="ctr"/>
            <a:r>
              <a:rPr sz="1600" b="1">
                <a:solidFill>
                  <a:srgbClr val="FFFFFF"/>
                </a:solidFill>
                <a:latin typeface="Segoe UI"/>
              </a:rPr>
              <a:t>10</a:t>
            </a:r>
          </a:p>
        </p:txBody>
      </p:sp>
      <p:sp>
        <p:nvSpPr>
          <p:cNvPr id="28" name="Rounded Rectangle 27"/>
          <p:cNvSpPr/>
          <p:nvPr/>
        </p:nvSpPr>
        <p:spPr>
          <a:xfrm>
            <a:off x="640080" y="4315968"/>
            <a:ext cx="10908792" cy="621792"/>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315968"/>
            <a:ext cx="4937760" cy="621792"/>
          </a:xfrm>
          <a:prstGeom prst="rect">
            <a:avLst/>
          </a:prstGeom>
          <a:noFill/>
        </p:spPr>
        <p:txBody>
          <a:bodyPr wrap="square" anchor="ctr" lIns="0" rIns="0" tIns="0" bIns="0">
            <a:spAutoFit/>
          </a:bodyPr>
          <a:lstStyle/>
          <a:p>
            <a:pPr algn="l"/>
            <a:r>
              <a:rPr sz="1650" b="1">
                <a:solidFill>
                  <a:srgbClr val="1A2332"/>
                </a:solidFill>
                <a:latin typeface="Segoe UI"/>
              </a:rPr>
              <a:t>Pricing</a:t>
            </a:r>
          </a:p>
        </p:txBody>
      </p:sp>
      <p:sp>
        <p:nvSpPr>
          <p:cNvPr id="30" name="Rounded Rectangle 29"/>
          <p:cNvSpPr/>
          <p:nvPr/>
        </p:nvSpPr>
        <p:spPr>
          <a:xfrm>
            <a:off x="5852160" y="4416552"/>
            <a:ext cx="2194560" cy="420624"/>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52160" y="4416552"/>
            <a:ext cx="2194560" cy="420624"/>
          </a:xfrm>
          <a:prstGeom prst="rect">
            <a:avLst/>
          </a:prstGeom>
          <a:noFill/>
        </p:spPr>
        <p:txBody>
          <a:bodyPr wrap="square" anchor="ctr" lIns="0" rIns="0" tIns="0" bIns="0">
            <a:spAutoFit/>
          </a:bodyPr>
          <a:lstStyle/>
          <a:p>
            <a:pPr algn="ctr"/>
            <a:r>
              <a:rPr sz="1600" b="1">
                <a:solidFill>
                  <a:srgbClr val="FFFFFF"/>
                </a:solidFill>
                <a:latin typeface="Segoe UI"/>
              </a:rPr>
              <a:t>100%</a:t>
            </a:r>
          </a:p>
        </p:txBody>
      </p:sp>
      <p:sp>
        <p:nvSpPr>
          <p:cNvPr id="32" name="Rounded Rectangle 31"/>
          <p:cNvSpPr/>
          <p:nvPr/>
        </p:nvSpPr>
        <p:spPr>
          <a:xfrm>
            <a:off x="9052560" y="4416552"/>
            <a:ext cx="2194560" cy="420624"/>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0" y="4416552"/>
            <a:ext cx="2194560" cy="420624"/>
          </a:xfrm>
          <a:prstGeom prst="rect">
            <a:avLst/>
          </a:prstGeom>
          <a:noFill/>
        </p:spPr>
        <p:txBody>
          <a:bodyPr wrap="square" anchor="ctr" lIns="0" rIns="0" tIns="0" bIns="0">
            <a:spAutoFit/>
          </a:bodyPr>
          <a:lstStyle/>
          <a:p>
            <a:pPr algn="ctr"/>
            <a:r>
              <a:rPr sz="1600" b="1">
                <a:solidFill>
                  <a:srgbClr val="FFFFFF"/>
                </a:solidFill>
                <a:latin typeface="Segoe UI"/>
              </a:rPr>
              <a:t>5</a:t>
            </a:r>
          </a:p>
        </p:txBody>
      </p:sp>
      <p:sp>
        <p:nvSpPr>
          <p:cNvPr id="34" name="Rounded Rectangle 33"/>
          <p:cNvSpPr/>
          <p:nvPr/>
        </p:nvSpPr>
        <p:spPr>
          <a:xfrm>
            <a:off x="640080" y="5047488"/>
            <a:ext cx="10908792" cy="621792"/>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047488"/>
            <a:ext cx="4937760" cy="621792"/>
          </a:xfrm>
          <a:prstGeom prst="rect">
            <a:avLst/>
          </a:prstGeom>
          <a:noFill/>
        </p:spPr>
        <p:txBody>
          <a:bodyPr wrap="square" anchor="ctr" lIns="0" rIns="0" tIns="0" bIns="0">
            <a:spAutoFit/>
          </a:bodyPr>
          <a:lstStyle/>
          <a:p>
            <a:pPr algn="l"/>
            <a:r>
              <a:rPr sz="1650" b="1">
                <a:solidFill>
                  <a:srgbClr val="1A2332"/>
                </a:solidFill>
                <a:latin typeface="Segoe UI"/>
              </a:rPr>
              <a:t>Self-gen</a:t>
            </a:r>
          </a:p>
        </p:txBody>
      </p:sp>
      <p:sp>
        <p:nvSpPr>
          <p:cNvPr id="36" name="Rounded Rectangle 35"/>
          <p:cNvSpPr/>
          <p:nvPr/>
        </p:nvSpPr>
        <p:spPr>
          <a:xfrm>
            <a:off x="5852160" y="5148072"/>
            <a:ext cx="2194560" cy="420624"/>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0" y="5148072"/>
            <a:ext cx="2194560" cy="420624"/>
          </a:xfrm>
          <a:prstGeom prst="rect">
            <a:avLst/>
          </a:prstGeom>
          <a:noFill/>
        </p:spPr>
        <p:txBody>
          <a:bodyPr wrap="square" anchor="ctr" lIns="0" rIns="0" tIns="0" bIns="0">
            <a:spAutoFit/>
          </a:bodyPr>
          <a:lstStyle/>
          <a:p>
            <a:pPr algn="ctr"/>
            <a:r>
              <a:rPr sz="1600" b="1">
                <a:solidFill>
                  <a:srgbClr val="FFFFFF"/>
                </a:solidFill>
                <a:latin typeface="Segoe UI"/>
              </a:rPr>
              <a:t>75%</a:t>
            </a:r>
          </a:p>
        </p:txBody>
      </p:sp>
      <p:sp>
        <p:nvSpPr>
          <p:cNvPr id="38" name="Rounded Rectangle 37"/>
          <p:cNvSpPr/>
          <p:nvPr/>
        </p:nvSpPr>
        <p:spPr>
          <a:xfrm>
            <a:off x="9052560" y="5148072"/>
            <a:ext cx="2194560" cy="420624"/>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52560" y="5148072"/>
            <a:ext cx="2194560" cy="420624"/>
          </a:xfrm>
          <a:prstGeom prst="rect">
            <a:avLst/>
          </a:prstGeom>
          <a:noFill/>
        </p:spPr>
        <p:txBody>
          <a:bodyPr wrap="square" anchor="ctr" lIns="0" rIns="0" tIns="0" bIns="0">
            <a:spAutoFit/>
          </a:bodyPr>
          <a:lstStyle/>
          <a:p>
            <a:pPr algn="ctr"/>
            <a:r>
              <a:rPr sz="1600" b="1">
                <a:solidFill>
                  <a:srgbClr val="FFFFFF"/>
                </a:solidFill>
                <a:latin typeface="Segoe UI"/>
              </a:rPr>
              <a:t>5</a:t>
            </a:r>
          </a:p>
        </p:txBody>
      </p:sp>
      <p:sp>
        <p:nvSpPr>
          <p:cNvPr id="40" name="Rounded Rectangle 39"/>
          <p:cNvSpPr/>
          <p:nvPr/>
        </p:nvSpPr>
        <p:spPr>
          <a:xfrm>
            <a:off x="640080" y="5852160"/>
            <a:ext cx="10908792" cy="868680"/>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5980176"/>
            <a:ext cx="10908792" cy="365760"/>
          </a:xfrm>
          <a:prstGeom prst="rect">
            <a:avLst/>
          </a:prstGeom>
          <a:noFill/>
        </p:spPr>
        <p:txBody>
          <a:bodyPr wrap="square" anchor="t" lIns="0" rIns="0" tIns="0" bIns="0">
            <a:spAutoFit/>
          </a:bodyPr>
          <a:lstStyle/>
          <a:p>
            <a:pPr algn="ctr"/>
            <a:r>
              <a:rPr sz="1550" b="1">
                <a:solidFill>
                  <a:srgbClr val="FFFFFF"/>
                </a:solidFill>
                <a:latin typeface="Segoe UI"/>
              </a:rPr>
              <a:t>Your rate ÷ its target (capped at 100%), times its weight. Add the five = your 0-100 score.</a:t>
            </a:r>
          </a:p>
        </p:txBody>
      </p:sp>
      <p:sp>
        <p:nvSpPr>
          <p:cNvPr id="42" name="TextBox 41"/>
          <p:cNvSpPr txBox="1"/>
          <p:nvPr/>
        </p:nvSpPr>
        <p:spPr>
          <a:xfrm>
            <a:off x="640080" y="6355080"/>
            <a:ext cx="10908792" cy="292608"/>
          </a:xfrm>
          <a:prstGeom prst="rect">
            <a:avLst/>
          </a:prstGeom>
          <a:noFill/>
        </p:spPr>
        <p:txBody>
          <a:bodyPr wrap="square" anchor="t" lIns="0" rIns="0" tIns="0" bIns="0">
            <a:spAutoFit/>
          </a:bodyPr>
          <a:lstStyle/>
          <a:p>
            <a:pPr algn="ctr"/>
            <a:r>
              <a:rPr sz="1300" b="0">
                <a:solidFill>
                  <a:srgbClr val="E6F4DA"/>
                </a:solidFill>
                <a:latin typeface="Segoe UI"/>
              </a:rPr>
              <a:t>Example: 26% effective ÷ 30% target = 87% of 50 = 43 points.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The big picture: 80 and 20</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Group the five, and the message is simple.</a:t>
            </a:r>
          </a:p>
        </p:txBody>
      </p:sp>
      <p:sp>
        <p:nvSpPr>
          <p:cNvPr id="7" name="Rounded Rectangle 6"/>
          <p:cNvSpPr/>
          <p:nvPr/>
        </p:nvSpPr>
        <p:spPr>
          <a:xfrm>
            <a:off x="640080" y="1783080"/>
            <a:ext cx="10908792" cy="1874519"/>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783080"/>
            <a:ext cx="2377440" cy="1874519"/>
          </a:xfrm>
          <a:prstGeom prst="rect">
            <a:avLst/>
          </a:prstGeom>
          <a:noFill/>
        </p:spPr>
        <p:txBody>
          <a:bodyPr wrap="square" anchor="ctr" lIns="0" rIns="0" tIns="0" bIns="0">
            <a:spAutoFit/>
          </a:bodyPr>
          <a:lstStyle/>
          <a:p>
            <a:pPr algn="l"/>
            <a:r>
              <a:rPr sz="6000" b="1">
                <a:solidFill>
                  <a:srgbClr val="FFFFFF"/>
                </a:solidFill>
                <a:latin typeface="Segoe UI"/>
              </a:rPr>
              <a:t>80</a:t>
            </a:r>
            <a:r>
              <a:rPr sz="3000" b="1">
                <a:solidFill>
                  <a:srgbClr val="FFFFFF"/>
                </a:solidFill>
                <a:latin typeface="Segoe UI"/>
              </a:rPr>
              <a:t>%</a:t>
            </a:r>
          </a:p>
        </p:txBody>
      </p:sp>
      <p:sp>
        <p:nvSpPr>
          <p:cNvPr id="9" name="TextBox 8"/>
          <p:cNvSpPr txBox="1"/>
          <p:nvPr/>
        </p:nvSpPr>
        <p:spPr>
          <a:xfrm>
            <a:off x="3474720" y="2039112"/>
            <a:ext cx="7772400" cy="1371600"/>
          </a:xfrm>
          <a:prstGeom prst="rect">
            <a:avLst/>
          </a:prstGeom>
          <a:noFill/>
        </p:spPr>
        <p:txBody>
          <a:bodyPr wrap="square" anchor="ctr" lIns="0" rIns="0" tIns="0" bIns="0">
            <a:spAutoFit/>
          </a:bodyPr>
          <a:lstStyle/>
          <a:p>
            <a:pPr algn="l">
              <a:spcAft>
                <a:spcPts val="1000"/>
              </a:spcAft>
            </a:pPr>
            <a:r>
              <a:rPr sz="2100" b="1">
                <a:solidFill>
                  <a:srgbClr val="FFFFFF"/>
                </a:solidFill>
                <a:latin typeface="Segoe UI"/>
              </a:rPr>
              <a:t>Convert and install the leads we give you</a:t>
            </a:r>
          </a:p>
          <a:p>
            <a:pPr algn="l">
              <a:spcAft>
                <a:spcPts val="1000"/>
              </a:spcAft>
            </a:pPr>
            <a:r>
              <a:rPr sz="1700" b="0">
                <a:solidFill>
                  <a:srgbClr val="E6F4DA"/>
                </a:solidFill>
                <a:latin typeface="Segoe UI"/>
              </a:rPr>
              <a:t>Effective rate  50      +      Pull-through  30</a:t>
            </a:r>
          </a:p>
        </p:txBody>
      </p:sp>
      <p:sp>
        <p:nvSpPr>
          <p:cNvPr id="10" name="Rounded Rectangle 9"/>
          <p:cNvSpPr/>
          <p:nvPr/>
        </p:nvSpPr>
        <p:spPr>
          <a:xfrm>
            <a:off x="640080" y="3840480"/>
            <a:ext cx="10908792" cy="1463040"/>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840480"/>
            <a:ext cx="2377440" cy="1463040"/>
          </a:xfrm>
          <a:prstGeom prst="rect">
            <a:avLst/>
          </a:prstGeom>
          <a:noFill/>
        </p:spPr>
        <p:txBody>
          <a:bodyPr wrap="square" anchor="ctr" lIns="0" rIns="0" tIns="0" bIns="0">
            <a:spAutoFit/>
          </a:bodyPr>
          <a:lstStyle/>
          <a:p>
            <a:pPr algn="l"/>
            <a:r>
              <a:rPr sz="4400" b="1">
                <a:solidFill>
                  <a:srgbClr val="FFFFFF"/>
                </a:solidFill>
                <a:latin typeface="Segoe UI"/>
              </a:rPr>
              <a:t>20</a:t>
            </a:r>
            <a:r>
              <a:rPr sz="2400" b="1">
                <a:solidFill>
                  <a:srgbClr val="FFFFFF"/>
                </a:solidFill>
                <a:latin typeface="Segoe UI"/>
              </a:rPr>
              <a:t>%</a:t>
            </a:r>
          </a:p>
        </p:txBody>
      </p:sp>
      <p:sp>
        <p:nvSpPr>
          <p:cNvPr id="12" name="TextBox 11"/>
          <p:cNvSpPr txBox="1"/>
          <p:nvPr/>
        </p:nvSpPr>
        <p:spPr>
          <a:xfrm>
            <a:off x="3474720" y="4023360"/>
            <a:ext cx="7772400" cy="1097280"/>
          </a:xfrm>
          <a:prstGeom prst="rect">
            <a:avLst/>
          </a:prstGeom>
          <a:noFill/>
        </p:spPr>
        <p:txBody>
          <a:bodyPr wrap="square" anchor="ctr" lIns="0" rIns="0" tIns="0" bIns="0">
            <a:spAutoFit/>
          </a:bodyPr>
          <a:lstStyle/>
          <a:p>
            <a:pPr algn="l">
              <a:spcAft>
                <a:spcPts val="800"/>
              </a:spcAft>
            </a:pPr>
            <a:r>
              <a:rPr sz="1900" b="1">
                <a:solidFill>
                  <a:srgbClr val="FFFFFF"/>
                </a:solidFill>
                <a:latin typeface="Segoe UI"/>
              </a:rPr>
              <a:t>Profit and hustle</a:t>
            </a:r>
          </a:p>
          <a:p>
            <a:pPr algn="l">
              <a:spcAft>
                <a:spcPts val="800"/>
              </a:spcAft>
            </a:pPr>
            <a:r>
              <a:rPr sz="1550" b="0">
                <a:solidFill>
                  <a:srgbClr val="DDF1FB"/>
                </a:solidFill>
                <a:latin typeface="Segoe UI"/>
              </a:rPr>
              <a:t>Attachment  10     +     Pricing  5     +     Self-gen  5</a:t>
            </a:r>
          </a:p>
        </p:txBody>
      </p:sp>
      <p:sp>
        <p:nvSpPr>
          <p:cNvPr id="13" name="TextBox 12"/>
          <p:cNvSpPr txBox="1"/>
          <p:nvPr/>
        </p:nvSpPr>
        <p:spPr>
          <a:xfrm>
            <a:off x="640080" y="5532120"/>
            <a:ext cx="10908792" cy="822960"/>
          </a:xfrm>
          <a:prstGeom prst="rect">
            <a:avLst/>
          </a:prstGeom>
          <a:noFill/>
        </p:spPr>
        <p:txBody>
          <a:bodyPr wrap="square" anchor="t" lIns="0" rIns="0" tIns="0" bIns="0">
            <a:spAutoFit/>
          </a:bodyPr>
          <a:lstStyle/>
          <a:p>
            <a:pPr algn="ctr"/>
            <a:r>
              <a:rPr sz="1600" b="1">
                <a:solidFill>
                  <a:srgbClr val="1A2332"/>
                </a:solidFill>
                <a:latin typeface="Segoe UI"/>
              </a:rPr>
              <a:t>80 of every 100 points come down to one thing: turning our appointments into installs.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What counts</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Three ground rules.</a:t>
            </a:r>
          </a:p>
        </p:txBody>
      </p:sp>
      <p:sp>
        <p:nvSpPr>
          <p:cNvPr id="7" name="Rounded Rectangle 6"/>
          <p:cNvSpPr/>
          <p:nvPr/>
        </p:nvSpPr>
        <p:spPr>
          <a:xfrm>
            <a:off x="640080" y="1874519"/>
            <a:ext cx="10908792" cy="123444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74519"/>
            <a:ext cx="164592" cy="1234440"/>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1874519"/>
            <a:ext cx="10085832" cy="1234440"/>
          </a:xfrm>
          <a:prstGeom prst="rect">
            <a:avLst/>
          </a:prstGeom>
          <a:noFill/>
        </p:spPr>
        <p:txBody>
          <a:bodyPr wrap="square" anchor="ctr" lIns="0" rIns="0" tIns="0" bIns="0">
            <a:spAutoFit/>
          </a:bodyPr>
          <a:lstStyle/>
          <a:p>
            <a:pPr algn="l">
              <a:spcAft>
                <a:spcPts val="700"/>
              </a:spcAft>
            </a:pPr>
            <a:r>
              <a:rPr sz="1800" b="1">
                <a:solidFill>
                  <a:srgbClr val="1A2332"/>
                </a:solidFill>
                <a:latin typeface="Segoe UI"/>
              </a:rPr>
              <a:t>Company leads only</a:t>
            </a:r>
          </a:p>
          <a:p>
            <a:pPr algn="l">
              <a:spcAft>
                <a:spcPts val="700"/>
              </a:spcAft>
            </a:pPr>
            <a:r>
              <a:rPr sz="1450" b="0">
                <a:solidFill>
                  <a:srgbClr val="5E665E"/>
                </a:solidFill>
                <a:latin typeface="Segoe UI"/>
              </a:rPr>
              <a:t>Your score is about the appointments we hand you. Self-gen and referral are the one exception, feeding only their own 5%.</a:t>
            </a:r>
          </a:p>
        </p:txBody>
      </p:sp>
      <p:sp>
        <p:nvSpPr>
          <p:cNvPr id="10" name="Rounded Rectangle 9"/>
          <p:cNvSpPr/>
          <p:nvPr/>
        </p:nvSpPr>
        <p:spPr>
          <a:xfrm>
            <a:off x="640080" y="3310128"/>
            <a:ext cx="10908792" cy="123444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310128"/>
            <a:ext cx="164592" cy="1234440"/>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310128"/>
            <a:ext cx="10085832" cy="1234440"/>
          </a:xfrm>
          <a:prstGeom prst="rect">
            <a:avLst/>
          </a:prstGeom>
          <a:noFill/>
        </p:spPr>
        <p:txBody>
          <a:bodyPr wrap="square" anchor="ctr" lIns="0" rIns="0" tIns="0" bIns="0">
            <a:spAutoFit/>
          </a:bodyPr>
          <a:lstStyle/>
          <a:p>
            <a:pPr algn="l">
              <a:spcAft>
                <a:spcPts val="700"/>
              </a:spcAft>
            </a:pPr>
            <a:r>
              <a:rPr sz="1800" b="1">
                <a:solidFill>
                  <a:srgbClr val="1A2332"/>
                </a:solidFill>
                <a:latin typeface="Segoe UI"/>
              </a:rPr>
              <a:t>Dispatched appointments</a:t>
            </a:r>
          </a:p>
          <a:p>
            <a:pPr algn="l">
              <a:spcAft>
                <a:spcPts val="700"/>
              </a:spcAft>
            </a:pPr>
            <a:r>
              <a:rPr sz="1450" b="0">
                <a:solidFill>
                  <a:srgbClr val="5E665E"/>
                </a:solidFill>
                <a:latin typeface="Segoe UI"/>
              </a:rPr>
              <a:t>Every appointment we gave you, minus DQs and verified homeowner no-shows. A rep no-show or a cancel at the door still counts against you.</a:t>
            </a:r>
          </a:p>
        </p:txBody>
      </p:sp>
      <p:sp>
        <p:nvSpPr>
          <p:cNvPr id="13" name="Rounded Rectangle 12"/>
          <p:cNvSpPr/>
          <p:nvPr/>
        </p:nvSpPr>
        <p:spPr>
          <a:xfrm>
            <a:off x="640080" y="4745736"/>
            <a:ext cx="10908792" cy="123444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745736"/>
            <a:ext cx="164592" cy="1234440"/>
          </a:xfrm>
          <a:prstGeom prst="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4745736"/>
            <a:ext cx="10085832" cy="1234440"/>
          </a:xfrm>
          <a:prstGeom prst="rect">
            <a:avLst/>
          </a:prstGeom>
          <a:noFill/>
        </p:spPr>
        <p:txBody>
          <a:bodyPr wrap="square" anchor="ctr" lIns="0" rIns="0" tIns="0" bIns="0">
            <a:spAutoFit/>
          </a:bodyPr>
          <a:lstStyle/>
          <a:p>
            <a:pPr algn="l">
              <a:spcAft>
                <a:spcPts val="700"/>
              </a:spcAft>
            </a:pPr>
            <a:r>
              <a:rPr sz="1800" b="1">
                <a:solidFill>
                  <a:srgbClr val="1A2332"/>
                </a:solidFill>
                <a:latin typeface="Segoe UI"/>
              </a:rPr>
              <a:t>A level playing field</a:t>
            </a:r>
          </a:p>
          <a:p>
            <a:pPr algn="l">
              <a:spcAft>
                <a:spcPts val="700"/>
              </a:spcAft>
            </a:pPr>
            <a:r>
              <a:rPr sz="1450" b="0">
                <a:solidFill>
                  <a:srgbClr val="5E665E"/>
                </a:solidFill>
                <a:latin typeface="Segoe UI"/>
              </a:rPr>
              <a:t>Viper removed the lanes. You're ranked against every rep in the regions you run, regardless of sales channel.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How far back we look, and why</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We don't judge deals that are too fresh to count.</a:t>
            </a:r>
          </a:p>
        </p:txBody>
      </p:sp>
      <p:sp>
        <p:nvSpPr>
          <p:cNvPr id="7" name="TextBox 6"/>
          <p:cNvSpPr txBox="1"/>
          <p:nvPr/>
        </p:nvSpPr>
        <p:spPr>
          <a:xfrm>
            <a:off x="640080" y="1965960"/>
            <a:ext cx="2011680" cy="566928"/>
          </a:xfrm>
          <a:prstGeom prst="rect">
            <a:avLst/>
          </a:prstGeom>
          <a:noFill/>
        </p:spPr>
        <p:txBody>
          <a:bodyPr wrap="square" anchor="ctr" lIns="0" rIns="0" tIns="0" bIns="0">
            <a:spAutoFit/>
          </a:bodyPr>
          <a:lstStyle/>
          <a:p>
            <a:pPr algn="l"/>
            <a:r>
              <a:rPr sz="1500" b="1">
                <a:solidFill>
                  <a:srgbClr val="1A2332"/>
                </a:solidFill>
                <a:latin typeface="Segoe UI"/>
              </a:rPr>
              <a:t>Effective rate</a:t>
            </a:r>
          </a:p>
        </p:txBody>
      </p:sp>
      <p:sp>
        <p:nvSpPr>
          <p:cNvPr id="8" name="Rounded Rectangle 7"/>
          <p:cNvSpPr/>
          <p:nvPr/>
        </p:nvSpPr>
        <p:spPr>
          <a:xfrm>
            <a:off x="2743200" y="1965960"/>
            <a:ext cx="7434986" cy="566928"/>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0" y="1965960"/>
            <a:ext cx="7434986" cy="566928"/>
          </a:xfrm>
          <a:prstGeom prst="rect">
            <a:avLst/>
          </a:prstGeom>
          <a:noFill/>
        </p:spPr>
        <p:txBody>
          <a:bodyPr wrap="square" anchor="ctr" lIns="0" rIns="0" tIns="0" bIns="0">
            <a:spAutoFit/>
          </a:bodyPr>
          <a:lstStyle/>
          <a:p>
            <a:pPr algn="ctr"/>
            <a:r>
              <a:rPr sz="1400" b="1">
                <a:solidFill>
                  <a:srgbClr val="FFFFFF"/>
                </a:solidFill>
                <a:latin typeface="Segoe UI"/>
              </a:rPr>
              <a:t>Last 90 days</a:t>
            </a:r>
          </a:p>
        </p:txBody>
      </p:sp>
      <p:sp>
        <p:nvSpPr>
          <p:cNvPr id="10" name="Rounded Rectangle 9"/>
          <p:cNvSpPr/>
          <p:nvPr/>
        </p:nvSpPr>
        <p:spPr>
          <a:xfrm>
            <a:off x="10214762" y="1965960"/>
            <a:ext cx="1123797" cy="566928"/>
          </a:xfrm>
          <a:prstGeom prst="roundRect">
            <a:avLst/>
          </a:prstGeom>
          <a:solidFill>
            <a:srgbClr val="C9D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14762" y="1965960"/>
            <a:ext cx="1123797" cy="566928"/>
          </a:xfrm>
          <a:prstGeom prst="rect">
            <a:avLst/>
          </a:prstGeom>
          <a:noFill/>
        </p:spPr>
        <p:txBody>
          <a:bodyPr wrap="square" anchor="ctr" lIns="0" rIns="0" tIns="0" bIns="0">
            <a:spAutoFit/>
          </a:bodyPr>
          <a:lstStyle/>
          <a:p>
            <a:pPr algn="ctr"/>
            <a:r>
              <a:rPr sz="1150" b="1">
                <a:solidFill>
                  <a:srgbClr val="1A2332"/>
                </a:solidFill>
                <a:latin typeface="Segoe UI"/>
              </a:rPr>
              <a:t>skip 2 wks</a:t>
            </a:r>
          </a:p>
        </p:txBody>
      </p:sp>
      <p:sp>
        <p:nvSpPr>
          <p:cNvPr id="12" name="TextBox 11"/>
          <p:cNvSpPr txBox="1"/>
          <p:nvPr/>
        </p:nvSpPr>
        <p:spPr>
          <a:xfrm>
            <a:off x="640080" y="2880360"/>
            <a:ext cx="2011680" cy="566928"/>
          </a:xfrm>
          <a:prstGeom prst="rect">
            <a:avLst/>
          </a:prstGeom>
          <a:noFill/>
        </p:spPr>
        <p:txBody>
          <a:bodyPr wrap="square" anchor="ctr" lIns="0" rIns="0" tIns="0" bIns="0">
            <a:spAutoFit/>
          </a:bodyPr>
          <a:lstStyle/>
          <a:p>
            <a:pPr algn="l"/>
            <a:r>
              <a:rPr sz="1500" b="1">
                <a:solidFill>
                  <a:srgbClr val="1A2332"/>
                </a:solidFill>
                <a:latin typeface="Segoe UI"/>
              </a:rPr>
              <a:t>Pull-through</a:t>
            </a:r>
          </a:p>
        </p:txBody>
      </p:sp>
      <p:sp>
        <p:nvSpPr>
          <p:cNvPr id="13" name="Rounded Rectangle 12"/>
          <p:cNvSpPr/>
          <p:nvPr/>
        </p:nvSpPr>
        <p:spPr>
          <a:xfrm>
            <a:off x="2743200" y="2880360"/>
            <a:ext cx="6446520" cy="566928"/>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2880360"/>
            <a:ext cx="6446520" cy="566928"/>
          </a:xfrm>
          <a:prstGeom prst="rect">
            <a:avLst/>
          </a:prstGeom>
          <a:noFill/>
        </p:spPr>
        <p:txBody>
          <a:bodyPr wrap="square" anchor="ctr" lIns="0" rIns="0" tIns="0" bIns="0">
            <a:spAutoFit/>
          </a:bodyPr>
          <a:lstStyle/>
          <a:p>
            <a:pPr algn="ctr"/>
            <a:r>
              <a:rPr sz="1400" b="1">
                <a:solidFill>
                  <a:srgbClr val="FFFFFF"/>
                </a:solidFill>
                <a:latin typeface="Segoe UI"/>
              </a:rPr>
              <a:t>Last 12 months</a:t>
            </a:r>
          </a:p>
        </p:txBody>
      </p:sp>
      <p:sp>
        <p:nvSpPr>
          <p:cNvPr id="15" name="Rounded Rectangle 14"/>
          <p:cNvSpPr/>
          <p:nvPr/>
        </p:nvSpPr>
        <p:spPr>
          <a:xfrm>
            <a:off x="9226296" y="2880360"/>
            <a:ext cx="2112263" cy="566928"/>
          </a:xfrm>
          <a:prstGeom prst="roundRect">
            <a:avLst/>
          </a:prstGeom>
          <a:solidFill>
            <a:srgbClr val="C9D0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26296" y="2880360"/>
            <a:ext cx="2112263" cy="566928"/>
          </a:xfrm>
          <a:prstGeom prst="rect">
            <a:avLst/>
          </a:prstGeom>
          <a:noFill/>
        </p:spPr>
        <p:txBody>
          <a:bodyPr wrap="square" anchor="ctr" lIns="0" rIns="0" tIns="0" bIns="0">
            <a:spAutoFit/>
          </a:bodyPr>
          <a:lstStyle/>
          <a:p>
            <a:pPr algn="ctr"/>
            <a:r>
              <a:rPr sz="1150" b="1">
                <a:solidFill>
                  <a:srgbClr val="1A2332"/>
                </a:solidFill>
                <a:latin typeface="Segoe UI"/>
              </a:rPr>
              <a:t>skip 4 mos</a:t>
            </a:r>
          </a:p>
        </p:txBody>
      </p:sp>
      <p:sp>
        <p:nvSpPr>
          <p:cNvPr id="17" name="TextBox 16"/>
          <p:cNvSpPr txBox="1"/>
          <p:nvPr/>
        </p:nvSpPr>
        <p:spPr>
          <a:xfrm>
            <a:off x="640080" y="3794760"/>
            <a:ext cx="2011680" cy="566928"/>
          </a:xfrm>
          <a:prstGeom prst="rect">
            <a:avLst/>
          </a:prstGeom>
          <a:noFill/>
        </p:spPr>
        <p:txBody>
          <a:bodyPr wrap="square" anchor="ctr" lIns="0" rIns="0" tIns="0" bIns="0">
            <a:spAutoFit/>
          </a:bodyPr>
          <a:lstStyle/>
          <a:p>
            <a:pPr algn="l"/>
            <a:r>
              <a:rPr sz="1500" b="1">
                <a:solidFill>
                  <a:srgbClr val="1A2332"/>
                </a:solidFill>
                <a:latin typeface="Segoe UI"/>
              </a:rPr>
              <a:t>Everything else</a:t>
            </a:r>
          </a:p>
        </p:txBody>
      </p:sp>
      <p:sp>
        <p:nvSpPr>
          <p:cNvPr id="18" name="Rounded Rectangle 17"/>
          <p:cNvSpPr/>
          <p:nvPr/>
        </p:nvSpPr>
        <p:spPr>
          <a:xfrm>
            <a:off x="2743200" y="3794760"/>
            <a:ext cx="8595360" cy="566928"/>
          </a:xfrm>
          <a:prstGeom prst="roundRect">
            <a:avLst/>
          </a:prstGeom>
          <a:solidFill>
            <a:srgbClr val="8A93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0" y="3794760"/>
            <a:ext cx="8595360" cy="566928"/>
          </a:xfrm>
          <a:prstGeom prst="rect">
            <a:avLst/>
          </a:prstGeom>
          <a:noFill/>
        </p:spPr>
        <p:txBody>
          <a:bodyPr wrap="square" anchor="ctr" lIns="0" rIns="0" tIns="0" bIns="0">
            <a:spAutoFit/>
          </a:bodyPr>
          <a:lstStyle/>
          <a:p>
            <a:pPr algn="ctr"/>
            <a:r>
              <a:rPr sz="1400" b="1">
                <a:solidFill>
                  <a:srgbClr val="FFFFFF"/>
                </a:solidFill>
                <a:latin typeface="Segoe UI"/>
              </a:rPr>
              <a:t>Last 90 days</a:t>
            </a:r>
          </a:p>
        </p:txBody>
      </p:sp>
      <p:sp>
        <p:nvSpPr>
          <p:cNvPr id="20" name="Rectangle 19"/>
          <p:cNvSpPr/>
          <p:nvPr/>
        </p:nvSpPr>
        <p:spPr>
          <a:xfrm>
            <a:off x="11356848" y="1828800"/>
            <a:ext cx="32004" cy="2532888"/>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81360" y="1508760"/>
            <a:ext cx="1280160" cy="274320"/>
          </a:xfrm>
          <a:prstGeom prst="rect">
            <a:avLst/>
          </a:prstGeom>
          <a:noFill/>
        </p:spPr>
        <p:txBody>
          <a:bodyPr wrap="square" anchor="t" lIns="0" rIns="0" tIns="0" bIns="0">
            <a:spAutoFit/>
          </a:bodyPr>
          <a:lstStyle/>
          <a:p>
            <a:pPr algn="ctr"/>
            <a:r>
              <a:rPr sz="1200" b="1">
                <a:solidFill>
                  <a:srgbClr val="1A2332"/>
                </a:solidFill>
                <a:latin typeface="Segoe UI"/>
              </a:rPr>
              <a:t>Today</a:t>
            </a:r>
          </a:p>
        </p:txBody>
      </p:sp>
      <p:sp>
        <p:nvSpPr>
          <p:cNvPr id="22" name="TextBox 21"/>
          <p:cNvSpPr txBox="1"/>
          <p:nvPr/>
        </p:nvSpPr>
        <p:spPr>
          <a:xfrm>
            <a:off x="2743200" y="4398264"/>
            <a:ext cx="8595360" cy="457200"/>
          </a:xfrm>
          <a:prstGeom prst="rect">
            <a:avLst/>
          </a:prstGeom>
          <a:noFill/>
        </p:spPr>
        <p:txBody>
          <a:bodyPr wrap="square" anchor="t" lIns="0" rIns="0" tIns="0" bIns="0">
            <a:spAutoFit/>
          </a:bodyPr>
          <a:lstStyle/>
          <a:p>
            <a:pPr algn="l">
              <a:spcAft>
                <a:spcPts val="300"/>
              </a:spcAft>
            </a:pPr>
            <a:r>
              <a:rPr sz="1100" b="0">
                <a:solidFill>
                  <a:srgbClr val="5E665E"/>
                </a:solidFill>
                <a:latin typeface="Segoe UI"/>
              </a:rPr>
              <a:t>Grey = recent stretch we leave out. Bars not to exact scale.</a:t>
            </a:r>
          </a:p>
          <a:p>
            <a:pPr algn="l">
              <a:spcAft>
                <a:spcPts val="300"/>
              </a:spcAft>
            </a:pPr>
            <a:r>
              <a:rPr sz="1100" b="0">
                <a:solidFill>
                  <a:srgbClr val="5E665E"/>
                </a:solidFill>
                <a:latin typeface="Segoe UI"/>
              </a:rPr>
              <a:t>New reps (under 180 days on leads) are left out of pull-through entirely.</a:t>
            </a:r>
          </a:p>
        </p:txBody>
      </p:sp>
      <p:sp>
        <p:nvSpPr>
          <p:cNvPr id="23" name="Rounded Rectangle 22"/>
          <p:cNvSpPr/>
          <p:nvPr/>
        </p:nvSpPr>
        <p:spPr>
          <a:xfrm>
            <a:off x="640080" y="4983480"/>
            <a:ext cx="10908792" cy="132588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148072"/>
            <a:ext cx="10424160" cy="1005840"/>
          </a:xfrm>
          <a:prstGeom prst="rect">
            <a:avLst/>
          </a:prstGeom>
          <a:noFill/>
        </p:spPr>
        <p:txBody>
          <a:bodyPr wrap="square" anchor="t" lIns="0" rIns="0" tIns="0" bIns="0">
            <a:spAutoFit/>
          </a:bodyPr>
          <a:lstStyle/>
          <a:p>
            <a:pPr algn="l">
              <a:spcAft>
                <a:spcPts val="900"/>
              </a:spcAft>
            </a:pPr>
            <a:r>
              <a:rPr sz="1450" b="1">
                <a:solidFill>
                  <a:srgbClr val="4F9D28"/>
                </a:solidFill>
                <a:latin typeface="Segoe UI"/>
              </a:rPr>
              <a:t>Why skip the last 2 weeks?  </a:t>
            </a:r>
            <a:r>
              <a:rPr sz="1450" b="0">
                <a:solidFill>
                  <a:srgbClr val="1A2332"/>
                </a:solidFill>
                <a:latin typeface="Segoe UI"/>
              </a:rPr>
              <a:t>A deal you just signed hasn't cleared approval yet, and the newest days swing too much to be fair.</a:t>
            </a:r>
          </a:p>
          <a:p>
            <a:pPr algn="l">
              <a:spcAft>
                <a:spcPts val="900"/>
              </a:spcAft>
            </a:pPr>
            <a:r>
              <a:rPr sz="1450" b="1">
                <a:solidFill>
                  <a:srgbClr val="29A9E1"/>
                </a:solidFill>
                <a:latin typeface="Segoe UI"/>
              </a:rPr>
              <a:t>Why skip the last 4 months?  </a:t>
            </a:r>
            <a:r>
              <a:rPr sz="1450" b="0">
                <a:solidFill>
                  <a:srgbClr val="1A2332"/>
                </a:solidFill>
                <a:latin typeface="Segoe UI"/>
              </a:rPr>
              <a:t>An install takes time. Every deal gets a fair shot to install before pull-through counts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From score to rank</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How your 0-to-100 score becomes a 1-to-5 rank.</a:t>
            </a:r>
          </a:p>
        </p:txBody>
      </p:sp>
      <p:sp>
        <p:nvSpPr>
          <p:cNvPr id="7" name="Rectangle 6"/>
          <p:cNvSpPr/>
          <p:nvPr/>
        </p:nvSpPr>
        <p:spPr>
          <a:xfrm>
            <a:off x="640080" y="1929384"/>
            <a:ext cx="146304" cy="603504"/>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74519"/>
            <a:ext cx="10515600" cy="868680"/>
          </a:xfrm>
          <a:prstGeom prst="rect">
            <a:avLst/>
          </a:prstGeom>
          <a:noFill/>
        </p:spPr>
        <p:txBody>
          <a:bodyPr wrap="square" anchor="ctr" lIns="0" rIns="0" tIns="0" bIns="0">
            <a:spAutoFit/>
          </a:bodyPr>
          <a:lstStyle/>
          <a:p>
            <a:pPr algn="l"/>
            <a:r>
              <a:rPr sz="1800" b="1">
                <a:solidFill>
                  <a:srgbClr val="1A2332"/>
                </a:solidFill>
                <a:latin typeface="Segoe UI"/>
              </a:rPr>
              <a:t>Top scores, top ranks.  </a:t>
            </a:r>
            <a:r>
              <a:rPr sz="1500" b="0">
                <a:solidFill>
                  <a:srgbClr val="5E665E"/>
                </a:solidFill>
                <a:latin typeface="Segoe UI"/>
              </a:rPr>
              <a:t>Inside your region pool, the highest scores earn the highest ranks. No sales channel, everyone in the region together.</a:t>
            </a:r>
          </a:p>
        </p:txBody>
      </p:sp>
      <p:sp>
        <p:nvSpPr>
          <p:cNvPr id="9" name="Rectangle 8"/>
          <p:cNvSpPr/>
          <p:nvPr/>
        </p:nvSpPr>
        <p:spPr>
          <a:xfrm>
            <a:off x="640080" y="2843784"/>
            <a:ext cx="146304" cy="603504"/>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88920"/>
            <a:ext cx="10515600" cy="868680"/>
          </a:xfrm>
          <a:prstGeom prst="rect">
            <a:avLst/>
          </a:prstGeom>
          <a:noFill/>
        </p:spPr>
        <p:txBody>
          <a:bodyPr wrap="square" anchor="ctr" lIns="0" rIns="0" tIns="0" bIns="0">
            <a:spAutoFit/>
          </a:bodyPr>
          <a:lstStyle/>
          <a:p>
            <a:pPr algn="l"/>
            <a:r>
              <a:rPr sz="1800" b="1">
                <a:solidFill>
                  <a:srgbClr val="1A2332"/>
                </a:solidFill>
                <a:latin typeface="Segoe UI"/>
              </a:rPr>
              <a:t>Best rank across regions.  </a:t>
            </a:r>
            <a:r>
              <a:rPr sz="1500" b="0">
                <a:solidFill>
                  <a:srgbClr val="5E665E"/>
                </a:solidFill>
                <a:latin typeface="Segoe UI"/>
              </a:rPr>
              <a:t>Regionals and above who cover several regions keep the highest rank they earn.</a:t>
            </a:r>
          </a:p>
        </p:txBody>
      </p:sp>
      <p:sp>
        <p:nvSpPr>
          <p:cNvPr id="11" name="Rectangle 10"/>
          <p:cNvSpPr/>
          <p:nvPr/>
        </p:nvSpPr>
        <p:spPr>
          <a:xfrm>
            <a:off x="640080" y="3758183"/>
            <a:ext cx="146304" cy="603504"/>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703320"/>
            <a:ext cx="10515600" cy="868680"/>
          </a:xfrm>
          <a:prstGeom prst="rect">
            <a:avLst/>
          </a:prstGeom>
          <a:noFill/>
        </p:spPr>
        <p:txBody>
          <a:bodyPr wrap="square" anchor="ctr" lIns="0" rIns="0" tIns="0" bIns="0">
            <a:spAutoFit/>
          </a:bodyPr>
          <a:lstStyle/>
          <a:p>
            <a:pPr algn="l"/>
            <a:r>
              <a:rPr sz="1800" b="1">
                <a:solidFill>
                  <a:srgbClr val="1A2332"/>
                </a:solidFill>
                <a:latin typeface="Segoe UI"/>
              </a:rPr>
              <a:t>Rebalanced every week.  </a:t>
            </a:r>
            <a:r>
              <a:rPr sz="1500" b="0">
                <a:solidFill>
                  <a:srgbClr val="5E665E"/>
                </a:solidFill>
                <a:latin typeface="Segoe UI"/>
              </a:rPr>
              <a:t>Ranks reset weekly, so a 4 means the same thing across the company.</a:t>
            </a:r>
          </a:p>
        </p:txBody>
      </p:sp>
      <p:sp>
        <p:nvSpPr>
          <p:cNvPr id="13" name="Rounded Rectangle 12"/>
          <p:cNvSpPr/>
          <p:nvPr/>
        </p:nvSpPr>
        <p:spPr>
          <a:xfrm>
            <a:off x="640080" y="4892040"/>
            <a:ext cx="10908792" cy="82296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892040"/>
            <a:ext cx="10908792" cy="822960"/>
          </a:xfrm>
          <a:prstGeom prst="rect">
            <a:avLst/>
          </a:prstGeom>
          <a:noFill/>
        </p:spPr>
        <p:txBody>
          <a:bodyPr wrap="square" anchor="ctr" lIns="0" rIns="0" tIns="0" bIns="0">
            <a:spAutoFit/>
          </a:bodyPr>
          <a:lstStyle/>
          <a:p>
            <a:pPr algn="ctr"/>
            <a:r>
              <a:rPr sz="1600" b="0">
                <a:solidFill>
                  <a:srgbClr val="1A2332"/>
                </a:solidFill>
                <a:latin typeface="Segoe UI"/>
              </a:rPr>
              <a:t>For example: a score of </a:t>
            </a:r>
            <a:r>
              <a:rPr sz="1600" b="1">
                <a:solidFill>
                  <a:srgbClr val="4F9D28"/>
                </a:solidFill>
                <a:latin typeface="Segoe UI"/>
              </a:rPr>
              <a:t>79</a:t>
            </a:r>
            <a:r>
              <a:rPr sz="1600" b="0">
                <a:solidFill>
                  <a:srgbClr val="1A2332"/>
                </a:solidFill>
                <a:latin typeface="Segoe UI"/>
              </a:rPr>
              <a:t> lands in the rank-4 tier.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Guardrails: floors and a cap</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Most reps earn their rank outright. A few cases get a floor or a cap.</a:t>
            </a:r>
          </a:p>
        </p:txBody>
      </p:sp>
      <p:sp>
        <p:nvSpPr>
          <p:cNvPr id="7" name="Rounded Rectangle 6"/>
          <p:cNvSpPr/>
          <p:nvPr/>
        </p:nvSpPr>
        <p:spPr>
          <a:xfrm>
            <a:off x="640080" y="1810512"/>
            <a:ext cx="10908792" cy="73152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10512"/>
            <a:ext cx="8074151" cy="731520"/>
          </a:xfrm>
          <a:prstGeom prst="rect">
            <a:avLst/>
          </a:prstGeom>
          <a:noFill/>
        </p:spPr>
        <p:txBody>
          <a:bodyPr wrap="square" anchor="ctr" lIns="0" rIns="0" tIns="0" bIns="0">
            <a:spAutoFit/>
          </a:bodyPr>
          <a:lstStyle/>
          <a:p>
            <a:pPr algn="l"/>
            <a:r>
              <a:rPr sz="1650" b="1">
                <a:solidFill>
                  <a:srgbClr val="1A2332"/>
                </a:solidFill>
                <a:latin typeface="Segoe UI"/>
              </a:rPr>
              <a:t>Hall of Fame    </a:t>
            </a:r>
            <a:r>
              <a:rPr sz="1300" b="0">
                <a:solidFill>
                  <a:srgbClr val="5E665E"/>
                </a:solidFill>
                <a:latin typeface="Segoe UI"/>
              </a:rPr>
              <a:t>1,000+ career installs</a:t>
            </a:r>
          </a:p>
        </p:txBody>
      </p:sp>
      <p:sp>
        <p:nvSpPr>
          <p:cNvPr id="9" name="Rounded Rectangle 8"/>
          <p:cNvSpPr/>
          <p:nvPr/>
        </p:nvSpPr>
        <p:spPr>
          <a:xfrm>
            <a:off x="9281159" y="1929384"/>
            <a:ext cx="2103120" cy="493776"/>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81159" y="1929384"/>
            <a:ext cx="2103120" cy="493776"/>
          </a:xfrm>
          <a:prstGeom prst="rect">
            <a:avLst/>
          </a:prstGeom>
          <a:noFill/>
        </p:spPr>
        <p:txBody>
          <a:bodyPr wrap="square" anchor="ctr" lIns="0" rIns="0" tIns="0" bIns="0">
            <a:spAutoFit/>
          </a:bodyPr>
          <a:lstStyle/>
          <a:p>
            <a:pPr algn="ctr"/>
            <a:r>
              <a:rPr sz="1500" b="1">
                <a:solidFill>
                  <a:srgbClr val="FFFFFF"/>
                </a:solidFill>
                <a:latin typeface="Segoe UI"/>
              </a:rPr>
              <a:t>Always 5</a:t>
            </a:r>
          </a:p>
        </p:txBody>
      </p:sp>
      <p:sp>
        <p:nvSpPr>
          <p:cNvPr id="11" name="Rounded Rectangle 10"/>
          <p:cNvSpPr/>
          <p:nvPr/>
        </p:nvSpPr>
        <p:spPr>
          <a:xfrm>
            <a:off x="640080" y="2670048"/>
            <a:ext cx="10908792" cy="73152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670048"/>
            <a:ext cx="8074151" cy="731520"/>
          </a:xfrm>
          <a:prstGeom prst="rect">
            <a:avLst/>
          </a:prstGeom>
          <a:noFill/>
        </p:spPr>
        <p:txBody>
          <a:bodyPr wrap="square" anchor="ctr" lIns="0" rIns="0" tIns="0" bIns="0">
            <a:spAutoFit/>
          </a:bodyPr>
          <a:lstStyle/>
          <a:p>
            <a:pPr algn="l"/>
            <a:r>
              <a:rPr sz="1650" b="1">
                <a:solidFill>
                  <a:srgbClr val="1A2332"/>
                </a:solidFill>
                <a:latin typeface="Segoe UI"/>
              </a:rPr>
              <a:t>DM and above    </a:t>
            </a:r>
            <a:r>
              <a:rPr sz="1300" b="0">
                <a:solidFill>
                  <a:srgbClr val="5E665E"/>
                </a:solidFill>
                <a:latin typeface="Segoe UI"/>
              </a:rPr>
              <a:t>District managers, regionals, VPs</a:t>
            </a:r>
          </a:p>
        </p:txBody>
      </p:sp>
      <p:sp>
        <p:nvSpPr>
          <p:cNvPr id="13" name="Rounded Rectangle 12"/>
          <p:cNvSpPr/>
          <p:nvPr/>
        </p:nvSpPr>
        <p:spPr>
          <a:xfrm>
            <a:off x="9281159" y="2788920"/>
            <a:ext cx="2103120" cy="493776"/>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59" y="2788920"/>
            <a:ext cx="2103120" cy="493776"/>
          </a:xfrm>
          <a:prstGeom prst="rect">
            <a:avLst/>
          </a:prstGeom>
          <a:noFill/>
        </p:spPr>
        <p:txBody>
          <a:bodyPr wrap="square" anchor="ctr" lIns="0" rIns="0" tIns="0" bIns="0">
            <a:spAutoFit/>
          </a:bodyPr>
          <a:lstStyle/>
          <a:p>
            <a:pPr algn="ctr"/>
            <a:r>
              <a:rPr sz="1500" b="1">
                <a:solidFill>
                  <a:srgbClr val="FFFFFF"/>
                </a:solidFill>
                <a:latin typeface="Segoe UI"/>
              </a:rPr>
              <a:t>At least 4</a:t>
            </a:r>
          </a:p>
        </p:txBody>
      </p:sp>
      <p:sp>
        <p:nvSpPr>
          <p:cNvPr id="15" name="Rounded Rectangle 14"/>
          <p:cNvSpPr/>
          <p:nvPr/>
        </p:nvSpPr>
        <p:spPr>
          <a:xfrm>
            <a:off x="640080" y="3529584"/>
            <a:ext cx="10908792" cy="73152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529584"/>
            <a:ext cx="8074151" cy="731520"/>
          </a:xfrm>
          <a:prstGeom prst="rect">
            <a:avLst/>
          </a:prstGeom>
          <a:noFill/>
        </p:spPr>
        <p:txBody>
          <a:bodyPr wrap="square" anchor="ctr" lIns="0" rIns="0" tIns="0" bIns="0">
            <a:spAutoFit/>
          </a:bodyPr>
          <a:lstStyle/>
          <a:p>
            <a:pPr algn="l"/>
            <a:r>
              <a:rPr sz="1650" b="1">
                <a:solidFill>
                  <a:srgbClr val="1A2332"/>
                </a:solidFill>
                <a:latin typeface="Segoe UI"/>
              </a:rPr>
              <a:t>ADM / Training Manager    </a:t>
            </a:r>
            <a:r>
              <a:rPr sz="1300" b="0">
                <a:solidFill>
                  <a:srgbClr val="5E665E"/>
                </a:solidFill>
                <a:latin typeface="Segoe UI"/>
              </a:rPr>
              <a:t>Assistant district and training managers</a:t>
            </a:r>
          </a:p>
        </p:txBody>
      </p:sp>
      <p:sp>
        <p:nvSpPr>
          <p:cNvPr id="17" name="Rounded Rectangle 16"/>
          <p:cNvSpPr/>
          <p:nvPr/>
        </p:nvSpPr>
        <p:spPr>
          <a:xfrm>
            <a:off x="9281159" y="3648456"/>
            <a:ext cx="2103120" cy="493776"/>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1159" y="3648456"/>
            <a:ext cx="2103120" cy="493776"/>
          </a:xfrm>
          <a:prstGeom prst="rect">
            <a:avLst/>
          </a:prstGeom>
          <a:noFill/>
        </p:spPr>
        <p:txBody>
          <a:bodyPr wrap="square" anchor="ctr" lIns="0" rIns="0" tIns="0" bIns="0">
            <a:spAutoFit/>
          </a:bodyPr>
          <a:lstStyle/>
          <a:p>
            <a:pPr algn="ctr"/>
            <a:r>
              <a:rPr sz="1500" b="1">
                <a:solidFill>
                  <a:srgbClr val="FFFFFF"/>
                </a:solidFill>
                <a:latin typeface="Segoe UI"/>
              </a:rPr>
              <a:t>At least 3</a:t>
            </a:r>
          </a:p>
        </p:txBody>
      </p:sp>
      <p:sp>
        <p:nvSpPr>
          <p:cNvPr id="19" name="Rounded Rectangle 18"/>
          <p:cNvSpPr/>
          <p:nvPr/>
        </p:nvSpPr>
        <p:spPr>
          <a:xfrm>
            <a:off x="640080" y="4389120"/>
            <a:ext cx="10908792" cy="73152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389120"/>
            <a:ext cx="8074151" cy="731520"/>
          </a:xfrm>
          <a:prstGeom prst="rect">
            <a:avLst/>
          </a:prstGeom>
          <a:noFill/>
        </p:spPr>
        <p:txBody>
          <a:bodyPr wrap="square" anchor="ctr" lIns="0" rIns="0" tIns="0" bIns="0">
            <a:spAutoFit/>
          </a:bodyPr>
          <a:lstStyle/>
          <a:p>
            <a:pPr algn="l"/>
            <a:r>
              <a:rPr sz="1650" b="1">
                <a:solidFill>
                  <a:srgbClr val="1A2332"/>
                </a:solidFill>
                <a:latin typeface="Segoe UI"/>
              </a:rPr>
              <a:t>New hire    </a:t>
            </a:r>
            <a:r>
              <a:rPr sz="1300" b="0">
                <a:solidFill>
                  <a:srgbClr val="5E665E"/>
                </a:solidFill>
                <a:latin typeface="Segoe UI"/>
              </a:rPr>
              <a:t>First 40 appointments or 8 months</a:t>
            </a:r>
          </a:p>
        </p:txBody>
      </p:sp>
      <p:sp>
        <p:nvSpPr>
          <p:cNvPr id="21" name="Rounded Rectangle 20"/>
          <p:cNvSpPr/>
          <p:nvPr/>
        </p:nvSpPr>
        <p:spPr>
          <a:xfrm>
            <a:off x="9281159" y="4507992"/>
            <a:ext cx="2103120" cy="493776"/>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59" y="4507992"/>
            <a:ext cx="2103120" cy="493776"/>
          </a:xfrm>
          <a:prstGeom prst="rect">
            <a:avLst/>
          </a:prstGeom>
          <a:noFill/>
        </p:spPr>
        <p:txBody>
          <a:bodyPr wrap="square" anchor="ctr" lIns="0" rIns="0" tIns="0" bIns="0">
            <a:spAutoFit/>
          </a:bodyPr>
          <a:lstStyle/>
          <a:p>
            <a:pPr algn="ctr"/>
            <a:r>
              <a:rPr sz="1500" b="1">
                <a:solidFill>
                  <a:srgbClr val="FFFFFF"/>
                </a:solidFill>
                <a:latin typeface="Segoe UI"/>
              </a:rPr>
              <a:t>At least 3</a:t>
            </a:r>
          </a:p>
        </p:txBody>
      </p:sp>
      <p:sp>
        <p:nvSpPr>
          <p:cNvPr id="23" name="Rounded Rectangle 22"/>
          <p:cNvSpPr/>
          <p:nvPr/>
        </p:nvSpPr>
        <p:spPr>
          <a:xfrm>
            <a:off x="640080" y="5248656"/>
            <a:ext cx="10908792" cy="73152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248656"/>
            <a:ext cx="8074151" cy="731520"/>
          </a:xfrm>
          <a:prstGeom prst="rect">
            <a:avLst/>
          </a:prstGeom>
          <a:noFill/>
        </p:spPr>
        <p:txBody>
          <a:bodyPr wrap="square" anchor="ctr" lIns="0" rIns="0" tIns="0" bIns="0">
            <a:spAutoFit/>
          </a:bodyPr>
          <a:lstStyle/>
          <a:p>
            <a:pPr algn="l"/>
            <a:r>
              <a:rPr sz="1650" b="1">
                <a:solidFill>
                  <a:srgbClr val="1A2332"/>
                </a:solidFill>
                <a:latin typeface="Segoe UI"/>
              </a:rPr>
              <a:t>Low volume    </a:t>
            </a:r>
            <a:r>
              <a:rPr sz="1300" b="0">
                <a:solidFill>
                  <a:srgbClr val="5E665E"/>
                </a:solidFill>
                <a:latin typeface="Segoe UI"/>
              </a:rPr>
              <a:t>Too few at-bats (under 15 / 20 / 30 by channel)</a:t>
            </a:r>
          </a:p>
        </p:txBody>
      </p:sp>
      <p:sp>
        <p:nvSpPr>
          <p:cNvPr id="25" name="Rounded Rectangle 24"/>
          <p:cNvSpPr/>
          <p:nvPr/>
        </p:nvSpPr>
        <p:spPr>
          <a:xfrm>
            <a:off x="9281159" y="5367528"/>
            <a:ext cx="2103120" cy="493776"/>
          </a:xfrm>
          <a:prstGeom prst="roundRect">
            <a:avLst/>
          </a:prstGeom>
          <a:solidFill>
            <a:srgbClr val="5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81159" y="5367528"/>
            <a:ext cx="2103120" cy="493776"/>
          </a:xfrm>
          <a:prstGeom prst="rect">
            <a:avLst/>
          </a:prstGeom>
          <a:noFill/>
        </p:spPr>
        <p:txBody>
          <a:bodyPr wrap="square" anchor="ctr" lIns="0" rIns="0" tIns="0" bIns="0">
            <a:spAutoFit/>
          </a:bodyPr>
          <a:lstStyle/>
          <a:p>
            <a:pPr algn="ctr"/>
            <a:r>
              <a:rPr sz="1500" b="1">
                <a:solidFill>
                  <a:srgbClr val="FFFFFF"/>
                </a:solidFill>
                <a:latin typeface="Segoe UI"/>
              </a:rPr>
              <a:t>Caps at 4</a:t>
            </a:r>
          </a:p>
        </p:txBody>
      </p:sp>
      <p:sp>
        <p:nvSpPr>
          <p:cNvPr id="27" name="TextBox 26"/>
          <p:cNvSpPr txBox="1"/>
          <p:nvPr/>
        </p:nvSpPr>
        <p:spPr>
          <a:xfrm>
            <a:off x="640080" y="6144768"/>
            <a:ext cx="10908792" cy="365760"/>
          </a:xfrm>
          <a:prstGeom prst="rect">
            <a:avLst/>
          </a:prstGeom>
          <a:noFill/>
        </p:spPr>
        <p:txBody>
          <a:bodyPr wrap="square" anchor="t" lIns="0" rIns="0" tIns="0" bIns="0">
            <a:spAutoFit/>
          </a:bodyPr>
          <a:lstStyle/>
          <a:p>
            <a:pPr algn="l"/>
            <a:r>
              <a:rPr sz="1250" b="0">
                <a:solidFill>
                  <a:srgbClr val="5E665E"/>
                </a:solidFill>
                <a:latin typeface="Segoe UI"/>
              </a:rPr>
              <a:t>A floor is a minimum, not a ceiling. Earn higher and you keep it. Only Hall of Fame is automatic.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In practice: one rep, one week</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Real numbers from the last run, name withheld.</a:t>
            </a:r>
          </a:p>
        </p:txBody>
      </p:sp>
      <p:sp>
        <p:nvSpPr>
          <p:cNvPr id="7" name="Rounded Rectangle 6"/>
          <p:cNvSpPr/>
          <p:nvPr/>
        </p:nvSpPr>
        <p:spPr>
          <a:xfrm>
            <a:off x="640080" y="1874519"/>
            <a:ext cx="1998878" cy="169164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75688"/>
            <a:ext cx="1998878" cy="365760"/>
          </a:xfrm>
          <a:prstGeom prst="rect">
            <a:avLst/>
          </a:prstGeom>
          <a:noFill/>
        </p:spPr>
        <p:txBody>
          <a:bodyPr wrap="square" anchor="ctr" lIns="0" rIns="0" tIns="0" bIns="0">
            <a:spAutoFit/>
          </a:bodyPr>
          <a:lstStyle/>
          <a:p>
            <a:pPr algn="ctr"/>
            <a:r>
              <a:rPr sz="1350" b="1">
                <a:solidFill>
                  <a:srgbClr val="5E665E"/>
                </a:solidFill>
                <a:latin typeface="Segoe UI"/>
              </a:rPr>
              <a:t>Effective</a:t>
            </a:r>
          </a:p>
        </p:txBody>
      </p:sp>
      <p:sp>
        <p:nvSpPr>
          <p:cNvPr id="9" name="Rounded Rectangle 8"/>
          <p:cNvSpPr/>
          <p:nvPr/>
        </p:nvSpPr>
        <p:spPr>
          <a:xfrm>
            <a:off x="1205179" y="2441448"/>
            <a:ext cx="868680" cy="64008"/>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87752"/>
            <a:ext cx="1998878" cy="548640"/>
          </a:xfrm>
          <a:prstGeom prst="rect">
            <a:avLst/>
          </a:prstGeom>
          <a:noFill/>
        </p:spPr>
        <p:txBody>
          <a:bodyPr wrap="square" anchor="ctr" lIns="0" rIns="0" tIns="0" bIns="0">
            <a:spAutoFit/>
          </a:bodyPr>
          <a:lstStyle/>
          <a:p>
            <a:pPr algn="ctr"/>
            <a:r>
              <a:rPr sz="3000" b="1">
                <a:solidFill>
                  <a:srgbClr val="1A2332"/>
                </a:solidFill>
                <a:latin typeface="Segoe UI"/>
              </a:rPr>
              <a:t>26%</a:t>
            </a:r>
          </a:p>
        </p:txBody>
      </p:sp>
      <p:sp>
        <p:nvSpPr>
          <p:cNvPr id="11" name="TextBox 10"/>
          <p:cNvSpPr txBox="1"/>
          <p:nvPr/>
        </p:nvSpPr>
        <p:spPr>
          <a:xfrm>
            <a:off x="640080" y="3172968"/>
            <a:ext cx="1998878" cy="320040"/>
          </a:xfrm>
          <a:prstGeom prst="rect">
            <a:avLst/>
          </a:prstGeom>
          <a:noFill/>
        </p:spPr>
        <p:txBody>
          <a:bodyPr wrap="square" anchor="ctr" lIns="0" rIns="0" tIns="0" bIns="0">
            <a:spAutoFit/>
          </a:bodyPr>
          <a:lstStyle/>
          <a:p>
            <a:pPr algn="ctr"/>
            <a:r>
              <a:rPr sz="1200" b="0">
                <a:solidFill>
                  <a:srgbClr val="5E665E"/>
                </a:solidFill>
                <a:latin typeface="Segoe UI"/>
              </a:rPr>
              <a:t>target 30%</a:t>
            </a:r>
          </a:p>
        </p:txBody>
      </p:sp>
      <p:sp>
        <p:nvSpPr>
          <p:cNvPr id="12" name="Rounded Rectangle 11"/>
          <p:cNvSpPr/>
          <p:nvPr/>
        </p:nvSpPr>
        <p:spPr>
          <a:xfrm>
            <a:off x="2867558" y="1874519"/>
            <a:ext cx="1998878" cy="169164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67558" y="2075688"/>
            <a:ext cx="1998878" cy="365760"/>
          </a:xfrm>
          <a:prstGeom prst="rect">
            <a:avLst/>
          </a:prstGeom>
          <a:noFill/>
        </p:spPr>
        <p:txBody>
          <a:bodyPr wrap="square" anchor="ctr" lIns="0" rIns="0" tIns="0" bIns="0">
            <a:spAutoFit/>
          </a:bodyPr>
          <a:lstStyle/>
          <a:p>
            <a:pPr algn="ctr"/>
            <a:r>
              <a:rPr sz="1350" b="1">
                <a:solidFill>
                  <a:srgbClr val="5E665E"/>
                </a:solidFill>
                <a:latin typeface="Segoe UI"/>
              </a:rPr>
              <a:t>Pull-through</a:t>
            </a:r>
          </a:p>
        </p:txBody>
      </p:sp>
      <p:sp>
        <p:nvSpPr>
          <p:cNvPr id="14" name="Rounded Rectangle 13"/>
          <p:cNvSpPr/>
          <p:nvPr/>
        </p:nvSpPr>
        <p:spPr>
          <a:xfrm>
            <a:off x="3432657" y="2441448"/>
            <a:ext cx="868680" cy="64008"/>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67558" y="2587752"/>
            <a:ext cx="1998878" cy="548640"/>
          </a:xfrm>
          <a:prstGeom prst="rect">
            <a:avLst/>
          </a:prstGeom>
          <a:noFill/>
        </p:spPr>
        <p:txBody>
          <a:bodyPr wrap="square" anchor="ctr" lIns="0" rIns="0" tIns="0" bIns="0">
            <a:spAutoFit/>
          </a:bodyPr>
          <a:lstStyle/>
          <a:p>
            <a:pPr algn="ctr"/>
            <a:r>
              <a:rPr sz="3000" b="1">
                <a:solidFill>
                  <a:srgbClr val="1A2332"/>
                </a:solidFill>
                <a:latin typeface="Segoe UI"/>
              </a:rPr>
              <a:t>78%</a:t>
            </a:r>
          </a:p>
        </p:txBody>
      </p:sp>
      <p:sp>
        <p:nvSpPr>
          <p:cNvPr id="16" name="TextBox 15"/>
          <p:cNvSpPr txBox="1"/>
          <p:nvPr/>
        </p:nvSpPr>
        <p:spPr>
          <a:xfrm>
            <a:off x="2867558" y="3172968"/>
            <a:ext cx="1998878" cy="320040"/>
          </a:xfrm>
          <a:prstGeom prst="rect">
            <a:avLst/>
          </a:prstGeom>
          <a:noFill/>
        </p:spPr>
        <p:txBody>
          <a:bodyPr wrap="square" anchor="ctr" lIns="0" rIns="0" tIns="0" bIns="0">
            <a:spAutoFit/>
          </a:bodyPr>
          <a:lstStyle/>
          <a:p>
            <a:pPr algn="ctr"/>
            <a:r>
              <a:rPr sz="1200" b="0">
                <a:solidFill>
                  <a:srgbClr val="5E665E"/>
                </a:solidFill>
                <a:latin typeface="Segoe UI"/>
              </a:rPr>
              <a:t>target 80%</a:t>
            </a:r>
          </a:p>
        </p:txBody>
      </p:sp>
      <p:sp>
        <p:nvSpPr>
          <p:cNvPr id="17" name="Rounded Rectangle 16"/>
          <p:cNvSpPr/>
          <p:nvPr/>
        </p:nvSpPr>
        <p:spPr>
          <a:xfrm>
            <a:off x="5095036" y="1874519"/>
            <a:ext cx="1998878" cy="169164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95036" y="2075688"/>
            <a:ext cx="1998878" cy="365760"/>
          </a:xfrm>
          <a:prstGeom prst="rect">
            <a:avLst/>
          </a:prstGeom>
          <a:noFill/>
        </p:spPr>
        <p:txBody>
          <a:bodyPr wrap="square" anchor="ctr" lIns="0" rIns="0" tIns="0" bIns="0">
            <a:spAutoFit/>
          </a:bodyPr>
          <a:lstStyle/>
          <a:p>
            <a:pPr algn="ctr"/>
            <a:r>
              <a:rPr sz="1350" b="1">
                <a:solidFill>
                  <a:srgbClr val="5E665E"/>
                </a:solidFill>
                <a:latin typeface="Segoe UI"/>
              </a:rPr>
              <a:t>Attachment</a:t>
            </a:r>
          </a:p>
        </p:txBody>
      </p:sp>
      <p:sp>
        <p:nvSpPr>
          <p:cNvPr id="19" name="Rounded Rectangle 18"/>
          <p:cNvSpPr/>
          <p:nvPr/>
        </p:nvSpPr>
        <p:spPr>
          <a:xfrm>
            <a:off x="5660136" y="2441448"/>
            <a:ext cx="868680" cy="64008"/>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95036" y="2587752"/>
            <a:ext cx="1998878" cy="548640"/>
          </a:xfrm>
          <a:prstGeom prst="rect">
            <a:avLst/>
          </a:prstGeom>
          <a:noFill/>
        </p:spPr>
        <p:txBody>
          <a:bodyPr wrap="square" anchor="ctr" lIns="0" rIns="0" tIns="0" bIns="0">
            <a:spAutoFit/>
          </a:bodyPr>
          <a:lstStyle/>
          <a:p>
            <a:pPr algn="ctr"/>
            <a:r>
              <a:rPr sz="3000" b="1">
                <a:solidFill>
                  <a:srgbClr val="1A2332"/>
                </a:solidFill>
                <a:latin typeface="Segoe UI"/>
              </a:rPr>
              <a:t>4%</a:t>
            </a:r>
          </a:p>
        </p:txBody>
      </p:sp>
      <p:sp>
        <p:nvSpPr>
          <p:cNvPr id="21" name="TextBox 20"/>
          <p:cNvSpPr txBox="1"/>
          <p:nvPr/>
        </p:nvSpPr>
        <p:spPr>
          <a:xfrm>
            <a:off x="5095036" y="3172968"/>
            <a:ext cx="1998878" cy="320040"/>
          </a:xfrm>
          <a:prstGeom prst="rect">
            <a:avLst/>
          </a:prstGeom>
          <a:noFill/>
        </p:spPr>
        <p:txBody>
          <a:bodyPr wrap="square" anchor="ctr" lIns="0" rIns="0" tIns="0" bIns="0">
            <a:spAutoFit/>
          </a:bodyPr>
          <a:lstStyle/>
          <a:p>
            <a:pPr algn="ctr"/>
            <a:r>
              <a:rPr sz="1200" b="0">
                <a:solidFill>
                  <a:srgbClr val="5E665E"/>
                </a:solidFill>
                <a:latin typeface="Segoe UI"/>
              </a:rPr>
              <a:t>target 30%</a:t>
            </a:r>
          </a:p>
        </p:txBody>
      </p:sp>
      <p:sp>
        <p:nvSpPr>
          <p:cNvPr id="22" name="Rounded Rectangle 21"/>
          <p:cNvSpPr/>
          <p:nvPr/>
        </p:nvSpPr>
        <p:spPr>
          <a:xfrm>
            <a:off x="7322515" y="1874519"/>
            <a:ext cx="1998878" cy="169164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22515" y="2075688"/>
            <a:ext cx="1998878" cy="365760"/>
          </a:xfrm>
          <a:prstGeom prst="rect">
            <a:avLst/>
          </a:prstGeom>
          <a:noFill/>
        </p:spPr>
        <p:txBody>
          <a:bodyPr wrap="square" anchor="ctr" lIns="0" rIns="0" tIns="0" bIns="0">
            <a:spAutoFit/>
          </a:bodyPr>
          <a:lstStyle/>
          <a:p>
            <a:pPr algn="ctr"/>
            <a:r>
              <a:rPr sz="1350" b="1">
                <a:solidFill>
                  <a:srgbClr val="5E665E"/>
                </a:solidFill>
                <a:latin typeface="Segoe UI"/>
              </a:rPr>
              <a:t>Pricing</a:t>
            </a:r>
          </a:p>
        </p:txBody>
      </p:sp>
      <p:sp>
        <p:nvSpPr>
          <p:cNvPr id="24" name="Rounded Rectangle 23"/>
          <p:cNvSpPr/>
          <p:nvPr/>
        </p:nvSpPr>
        <p:spPr>
          <a:xfrm>
            <a:off x="7887614" y="2441448"/>
            <a:ext cx="868680" cy="64008"/>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22515" y="2587752"/>
            <a:ext cx="1998878" cy="548640"/>
          </a:xfrm>
          <a:prstGeom prst="rect">
            <a:avLst/>
          </a:prstGeom>
          <a:noFill/>
        </p:spPr>
        <p:txBody>
          <a:bodyPr wrap="square" anchor="ctr" lIns="0" rIns="0" tIns="0" bIns="0">
            <a:spAutoFit/>
          </a:bodyPr>
          <a:lstStyle/>
          <a:p>
            <a:pPr algn="ctr"/>
            <a:r>
              <a:rPr sz="3000" b="1">
                <a:solidFill>
                  <a:srgbClr val="1A2332"/>
                </a:solidFill>
                <a:latin typeface="Segoe UI"/>
              </a:rPr>
              <a:t>79%</a:t>
            </a:r>
          </a:p>
        </p:txBody>
      </p:sp>
      <p:sp>
        <p:nvSpPr>
          <p:cNvPr id="26" name="TextBox 25"/>
          <p:cNvSpPr txBox="1"/>
          <p:nvPr/>
        </p:nvSpPr>
        <p:spPr>
          <a:xfrm>
            <a:off x="7322515" y="3172968"/>
            <a:ext cx="1998878" cy="320040"/>
          </a:xfrm>
          <a:prstGeom prst="rect">
            <a:avLst/>
          </a:prstGeom>
          <a:noFill/>
        </p:spPr>
        <p:txBody>
          <a:bodyPr wrap="square" anchor="ctr" lIns="0" rIns="0" tIns="0" bIns="0">
            <a:spAutoFit/>
          </a:bodyPr>
          <a:lstStyle/>
          <a:p>
            <a:pPr algn="ctr"/>
            <a:r>
              <a:rPr sz="1200" b="0">
                <a:solidFill>
                  <a:srgbClr val="5E665E"/>
                </a:solidFill>
                <a:latin typeface="Segoe UI"/>
              </a:rPr>
              <a:t>target 100%</a:t>
            </a:r>
          </a:p>
        </p:txBody>
      </p:sp>
      <p:sp>
        <p:nvSpPr>
          <p:cNvPr id="27" name="Rounded Rectangle 26"/>
          <p:cNvSpPr/>
          <p:nvPr/>
        </p:nvSpPr>
        <p:spPr>
          <a:xfrm>
            <a:off x="9549993" y="1874519"/>
            <a:ext cx="1998878" cy="169164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49993" y="2075688"/>
            <a:ext cx="1998878" cy="365760"/>
          </a:xfrm>
          <a:prstGeom prst="rect">
            <a:avLst/>
          </a:prstGeom>
          <a:noFill/>
        </p:spPr>
        <p:txBody>
          <a:bodyPr wrap="square" anchor="ctr" lIns="0" rIns="0" tIns="0" bIns="0">
            <a:spAutoFit/>
          </a:bodyPr>
          <a:lstStyle/>
          <a:p>
            <a:pPr algn="ctr"/>
            <a:r>
              <a:rPr sz="1350" b="1">
                <a:solidFill>
                  <a:srgbClr val="5E665E"/>
                </a:solidFill>
                <a:latin typeface="Segoe UI"/>
              </a:rPr>
              <a:t>Self-gen</a:t>
            </a:r>
          </a:p>
        </p:txBody>
      </p:sp>
      <p:sp>
        <p:nvSpPr>
          <p:cNvPr id="29" name="Rounded Rectangle 28"/>
          <p:cNvSpPr/>
          <p:nvPr/>
        </p:nvSpPr>
        <p:spPr>
          <a:xfrm>
            <a:off x="10115092" y="2441448"/>
            <a:ext cx="868680" cy="64008"/>
          </a:xfrm>
          <a:prstGeom prst="roundRect">
            <a:avLst/>
          </a:prstGeom>
          <a:solidFill>
            <a:srgbClr val="29A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49993" y="2587752"/>
            <a:ext cx="1998878" cy="548640"/>
          </a:xfrm>
          <a:prstGeom prst="rect">
            <a:avLst/>
          </a:prstGeom>
          <a:noFill/>
        </p:spPr>
        <p:txBody>
          <a:bodyPr wrap="square" anchor="ctr" lIns="0" rIns="0" tIns="0" bIns="0">
            <a:spAutoFit/>
          </a:bodyPr>
          <a:lstStyle/>
          <a:p>
            <a:pPr algn="ctr"/>
            <a:r>
              <a:rPr sz="3000" b="1">
                <a:solidFill>
                  <a:srgbClr val="1A2332"/>
                </a:solidFill>
                <a:latin typeface="Segoe UI"/>
              </a:rPr>
              <a:t>22%</a:t>
            </a:r>
          </a:p>
        </p:txBody>
      </p:sp>
      <p:sp>
        <p:nvSpPr>
          <p:cNvPr id="31" name="TextBox 30"/>
          <p:cNvSpPr txBox="1"/>
          <p:nvPr/>
        </p:nvSpPr>
        <p:spPr>
          <a:xfrm>
            <a:off x="9549993" y="3172968"/>
            <a:ext cx="1998878" cy="320040"/>
          </a:xfrm>
          <a:prstGeom prst="rect">
            <a:avLst/>
          </a:prstGeom>
          <a:noFill/>
        </p:spPr>
        <p:txBody>
          <a:bodyPr wrap="square" anchor="ctr" lIns="0" rIns="0" tIns="0" bIns="0">
            <a:spAutoFit/>
          </a:bodyPr>
          <a:lstStyle/>
          <a:p>
            <a:pPr algn="ctr"/>
            <a:r>
              <a:rPr sz="1200" b="0">
                <a:solidFill>
                  <a:srgbClr val="5E665E"/>
                </a:solidFill>
                <a:latin typeface="Segoe UI"/>
              </a:rPr>
              <a:t>target 75%</a:t>
            </a:r>
          </a:p>
        </p:txBody>
      </p:sp>
      <p:sp>
        <p:nvSpPr>
          <p:cNvPr id="32" name="TextBox 31"/>
          <p:cNvSpPr txBox="1"/>
          <p:nvPr/>
        </p:nvSpPr>
        <p:spPr>
          <a:xfrm>
            <a:off x="640080" y="3611879"/>
            <a:ext cx="10908792" cy="320040"/>
          </a:xfrm>
          <a:prstGeom prst="rect">
            <a:avLst/>
          </a:prstGeom>
          <a:noFill/>
        </p:spPr>
        <p:txBody>
          <a:bodyPr wrap="square" anchor="t" lIns="0" rIns="0" tIns="0" bIns="0">
            <a:spAutoFit/>
          </a:bodyPr>
          <a:lstStyle/>
          <a:p>
            <a:pPr algn="ctr"/>
            <a:r>
              <a:rPr sz="1250" b="0">
                <a:solidFill>
                  <a:srgbClr val="5E665E"/>
                </a:solidFill>
                <a:latin typeface="Segoe UI"/>
              </a:rPr>
              <a:t>Each number is scored against its target, then weighted. Near target on the big two is what carries the score.</a:t>
            </a:r>
          </a:p>
        </p:txBody>
      </p:sp>
      <p:sp>
        <p:nvSpPr>
          <p:cNvPr id="33" name="Rounded Rectangle 32"/>
          <p:cNvSpPr/>
          <p:nvPr/>
        </p:nvSpPr>
        <p:spPr>
          <a:xfrm>
            <a:off x="640080" y="4160520"/>
            <a:ext cx="10908792" cy="960120"/>
          </a:xfrm>
          <a:prstGeom prst="round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7280" y="4160520"/>
            <a:ext cx="4572000" cy="960120"/>
          </a:xfrm>
          <a:prstGeom prst="rect">
            <a:avLst/>
          </a:prstGeom>
          <a:noFill/>
        </p:spPr>
        <p:txBody>
          <a:bodyPr wrap="square" anchor="ctr" lIns="0" rIns="0" tIns="0" bIns="0">
            <a:spAutoFit/>
          </a:bodyPr>
          <a:lstStyle/>
          <a:p>
            <a:pPr algn="l"/>
            <a:r>
              <a:rPr sz="1800" b="0">
                <a:solidFill>
                  <a:srgbClr val="C9D2C4"/>
                </a:solidFill>
                <a:latin typeface="Segoe UI"/>
              </a:rPr>
              <a:t>Viper score   </a:t>
            </a:r>
            <a:r>
              <a:rPr sz="4000" b="1">
                <a:solidFill>
                  <a:srgbClr val="FFFFFF"/>
                </a:solidFill>
                <a:latin typeface="Segoe UI"/>
              </a:rPr>
              <a:t>79</a:t>
            </a:r>
          </a:p>
        </p:txBody>
      </p:sp>
      <p:sp>
        <p:nvSpPr>
          <p:cNvPr id="35" name="Rounded Rectangle 34"/>
          <p:cNvSpPr/>
          <p:nvPr/>
        </p:nvSpPr>
        <p:spPr>
          <a:xfrm>
            <a:off x="6766560" y="4343400"/>
            <a:ext cx="2011680" cy="594360"/>
          </a:xfrm>
          <a:prstGeom prst="round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0" y="4343400"/>
            <a:ext cx="2011680" cy="594360"/>
          </a:xfrm>
          <a:prstGeom prst="rect">
            <a:avLst/>
          </a:prstGeom>
          <a:noFill/>
        </p:spPr>
        <p:txBody>
          <a:bodyPr wrap="square" anchor="ctr" lIns="0" rIns="0" tIns="0" bIns="0">
            <a:spAutoFit/>
          </a:bodyPr>
          <a:lstStyle/>
          <a:p>
            <a:pPr algn="ctr"/>
            <a:r>
              <a:rPr sz="2400" b="1">
                <a:solidFill>
                  <a:srgbClr val="FFFFFF"/>
                </a:solidFill>
                <a:latin typeface="Segoe UI"/>
              </a:rPr>
              <a:t>Rank 4</a:t>
            </a:r>
          </a:p>
        </p:txBody>
      </p:sp>
      <p:sp>
        <p:nvSpPr>
          <p:cNvPr id="37" name="TextBox 36"/>
          <p:cNvSpPr txBox="1"/>
          <p:nvPr/>
        </p:nvSpPr>
        <p:spPr>
          <a:xfrm>
            <a:off x="8961119" y="4160520"/>
            <a:ext cx="2468880" cy="960120"/>
          </a:xfrm>
          <a:prstGeom prst="rect">
            <a:avLst/>
          </a:prstGeom>
          <a:noFill/>
        </p:spPr>
        <p:txBody>
          <a:bodyPr wrap="square" anchor="ctr" lIns="0" rIns="0" tIns="0" bIns="0">
            <a:spAutoFit/>
          </a:bodyPr>
          <a:lstStyle/>
          <a:p>
            <a:pPr algn="l">
              <a:spcAft>
                <a:spcPts val="200"/>
              </a:spcAft>
            </a:pPr>
            <a:r>
              <a:rPr sz="1600" b="1">
                <a:solidFill>
                  <a:srgbClr val="FFFFFF"/>
                </a:solidFill>
                <a:latin typeface="Segoe UI"/>
              </a:rPr>
              <a:t>up from 3</a:t>
            </a:r>
          </a:p>
          <a:p>
            <a:pPr algn="l">
              <a:spcAft>
                <a:spcPts val="200"/>
              </a:spcAft>
            </a:pPr>
            <a:r>
              <a:rPr sz="1250" b="0">
                <a:solidFill>
                  <a:srgbClr val="C9D2C4"/>
                </a:solidFill>
                <a:latin typeface="Segoe UI"/>
              </a:rPr>
              <a:t>the week before</a:t>
            </a:r>
          </a:p>
        </p:txBody>
      </p:sp>
      <p:sp>
        <p:nvSpPr>
          <p:cNvPr id="38" name="TextBox 37"/>
          <p:cNvSpPr txBox="1"/>
          <p:nvPr/>
        </p:nvSpPr>
        <p:spPr>
          <a:xfrm>
            <a:off x="640080" y="5349240"/>
            <a:ext cx="10908792" cy="457200"/>
          </a:xfrm>
          <a:prstGeom prst="rect">
            <a:avLst/>
          </a:prstGeom>
          <a:noFill/>
        </p:spPr>
        <p:txBody>
          <a:bodyPr wrap="square" anchor="t" lIns="0" rIns="0" tIns="0" bIns="0">
            <a:spAutoFit/>
          </a:bodyPr>
          <a:lstStyle/>
          <a:p>
            <a:pPr algn="ctr"/>
            <a:r>
              <a:rPr sz="1500" b="1">
                <a:solidFill>
                  <a:srgbClr val="1A2332"/>
                </a:solidFill>
                <a:latin typeface="Segoe UI"/>
              </a:rPr>
              <a:t>Closes and installs our leads well, which is the 80% that counts. Attachment is the gap. Net: a solid rank 4.</a:t>
            </a:r>
          </a:p>
        </p:txBody>
      </p:sp>
      <p:sp>
        <p:nvSpPr>
          <p:cNvPr id="39" name="Rounded Rectangle 38"/>
          <p:cNvSpPr/>
          <p:nvPr/>
        </p:nvSpPr>
        <p:spPr>
          <a:xfrm>
            <a:off x="640080" y="5989320"/>
            <a:ext cx="10908792" cy="548640"/>
          </a:xfrm>
          <a:prstGeom prst="roundRect">
            <a:avLst/>
          </a:prstGeom>
          <a:solidFill>
            <a:srgbClr val="EFF1EC"/>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5989320"/>
            <a:ext cx="10360152" cy="548640"/>
          </a:xfrm>
          <a:prstGeom prst="rect">
            <a:avLst/>
          </a:prstGeom>
          <a:noFill/>
        </p:spPr>
        <p:txBody>
          <a:bodyPr wrap="square" anchor="ctr" lIns="0" rIns="0" tIns="0" bIns="0">
            <a:spAutoFit/>
          </a:bodyPr>
          <a:lstStyle/>
          <a:p>
            <a:pPr algn="l"/>
            <a:r>
              <a:rPr sz="1200" b="0">
                <a:solidFill>
                  <a:srgbClr val="5E665E"/>
                </a:solidFill>
                <a:latin typeface="Segoe UI"/>
              </a:rPr>
              <a:t>Latest run: dispatched appointments read Mar 7 to May 22, installs measured on deals signed Jun 2025 to Feb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0"/>
            <a:ext cx="10972800" cy="1005840"/>
          </a:xfrm>
          <a:prstGeom prst="rect">
            <a:avLst/>
          </a:prstGeom>
          <a:noFill/>
        </p:spPr>
        <p:txBody>
          <a:bodyPr wrap="square" anchor="ctr" lIns="0" rIns="0" tIns="0" bIns="0">
            <a:spAutoFit/>
          </a:bodyPr>
          <a:lstStyle/>
          <a:p>
            <a:pPr algn="l"/>
            <a:r>
              <a:rPr sz="2600" b="1">
                <a:solidFill>
                  <a:srgbClr val="FFFFFF"/>
                </a:solidFill>
                <a:latin typeface="Segoe UI"/>
              </a:rPr>
              <a:t>Why it's steadier than before</a:t>
            </a:r>
          </a:p>
        </p:txBody>
      </p:sp>
      <p:sp>
        <p:nvSpPr>
          <p:cNvPr id="6" name="TextBox 5"/>
          <p:cNvSpPr txBox="1"/>
          <p:nvPr/>
        </p:nvSpPr>
        <p:spPr>
          <a:xfrm>
            <a:off x="640080" y="1170432"/>
            <a:ext cx="10972800" cy="411480"/>
          </a:xfrm>
          <a:prstGeom prst="rect">
            <a:avLst/>
          </a:prstGeom>
          <a:noFill/>
        </p:spPr>
        <p:txBody>
          <a:bodyPr wrap="square" anchor="t" lIns="0" rIns="0" tIns="0" bIns="0">
            <a:spAutoFit/>
          </a:bodyPr>
          <a:lstStyle/>
          <a:p>
            <a:pPr algn="l"/>
            <a:r>
              <a:rPr sz="1400" b="0">
                <a:solidFill>
                  <a:srgbClr val="5E665E"/>
                </a:solidFill>
                <a:latin typeface="Segoe UI"/>
              </a:rPr>
              <a:t>Less volatile, by design.</a:t>
            </a:r>
          </a:p>
        </p:txBody>
      </p:sp>
      <p:sp>
        <p:nvSpPr>
          <p:cNvPr id="7" name="TextBox 6"/>
          <p:cNvSpPr txBox="1"/>
          <p:nvPr/>
        </p:nvSpPr>
        <p:spPr>
          <a:xfrm>
            <a:off x="2542032" y="1572768"/>
            <a:ext cx="4389120" cy="274320"/>
          </a:xfrm>
          <a:prstGeom prst="rect">
            <a:avLst/>
          </a:prstGeom>
          <a:noFill/>
        </p:spPr>
        <p:txBody>
          <a:bodyPr wrap="square" anchor="t" lIns="0" rIns="0" tIns="0" bIns="0">
            <a:spAutoFit/>
          </a:bodyPr>
          <a:lstStyle/>
          <a:p>
            <a:pPr algn="l"/>
            <a:r>
              <a:rPr sz="1300" b="1">
                <a:solidFill>
                  <a:srgbClr val="5E665E"/>
                </a:solidFill>
                <a:latin typeface="Segoe UI"/>
              </a:rPr>
              <a:t>BEFORE</a:t>
            </a:r>
          </a:p>
        </p:txBody>
      </p:sp>
      <p:sp>
        <p:nvSpPr>
          <p:cNvPr id="8" name="TextBox 7"/>
          <p:cNvSpPr txBox="1"/>
          <p:nvPr/>
        </p:nvSpPr>
        <p:spPr>
          <a:xfrm>
            <a:off x="7068312" y="1572768"/>
            <a:ext cx="4480560" cy="274320"/>
          </a:xfrm>
          <a:prstGeom prst="rect">
            <a:avLst/>
          </a:prstGeom>
          <a:noFill/>
        </p:spPr>
        <p:txBody>
          <a:bodyPr wrap="square" anchor="t" lIns="0" rIns="0" tIns="0" bIns="0">
            <a:spAutoFit/>
          </a:bodyPr>
          <a:lstStyle/>
          <a:p>
            <a:pPr algn="l"/>
            <a:r>
              <a:rPr sz="1300" b="1">
                <a:solidFill>
                  <a:srgbClr val="4F9D28"/>
                </a:solidFill>
                <a:latin typeface="Segoe UI"/>
              </a:rPr>
              <a:t>NOW</a:t>
            </a:r>
          </a:p>
        </p:txBody>
      </p:sp>
      <p:sp>
        <p:nvSpPr>
          <p:cNvPr id="9" name="TextBox 8"/>
          <p:cNvSpPr txBox="1"/>
          <p:nvPr/>
        </p:nvSpPr>
        <p:spPr>
          <a:xfrm>
            <a:off x="640080" y="1938528"/>
            <a:ext cx="1783080" cy="841248"/>
          </a:xfrm>
          <a:prstGeom prst="rect">
            <a:avLst/>
          </a:prstGeom>
          <a:noFill/>
        </p:spPr>
        <p:txBody>
          <a:bodyPr wrap="square" anchor="ctr" lIns="0" rIns="0" tIns="0" bIns="0">
            <a:spAutoFit/>
          </a:bodyPr>
          <a:lstStyle/>
          <a:p>
            <a:pPr algn="l"/>
            <a:r>
              <a:rPr sz="1550" b="1">
                <a:solidFill>
                  <a:srgbClr val="1A2332"/>
                </a:solidFill>
                <a:latin typeface="Segoe UI"/>
              </a:rPr>
              <a:t>Pull-through</a:t>
            </a:r>
          </a:p>
        </p:txBody>
      </p:sp>
      <p:sp>
        <p:nvSpPr>
          <p:cNvPr id="10" name="Rounded Rectangle 9"/>
          <p:cNvSpPr/>
          <p:nvPr/>
        </p:nvSpPr>
        <p:spPr>
          <a:xfrm>
            <a:off x="2542032" y="1938528"/>
            <a:ext cx="4389120" cy="841248"/>
          </a:xfrm>
          <a:prstGeom prst="roundRect">
            <a:avLst/>
          </a:prstGeom>
          <a:solidFill>
            <a:srgbClr val="ECEDEA"/>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70632" y="1938528"/>
            <a:ext cx="3977639" cy="841248"/>
          </a:xfrm>
          <a:prstGeom prst="rect">
            <a:avLst/>
          </a:prstGeom>
          <a:noFill/>
        </p:spPr>
        <p:txBody>
          <a:bodyPr wrap="square" anchor="ctr" lIns="0" rIns="0" tIns="0" bIns="0">
            <a:spAutoFit/>
          </a:bodyPr>
          <a:lstStyle/>
          <a:p>
            <a:pPr algn="l"/>
            <a:r>
              <a:rPr sz="1350" b="0">
                <a:solidFill>
                  <a:srgbClr val="5E665E"/>
                </a:solidFill>
                <a:latin typeface="Segoe UI"/>
              </a:rPr>
              <a:t>Short window, swung by install-date changes</a:t>
            </a:r>
          </a:p>
        </p:txBody>
      </p:sp>
      <p:sp>
        <p:nvSpPr>
          <p:cNvPr id="12" name="Rounded Rectangle 11"/>
          <p:cNvSpPr/>
          <p:nvPr/>
        </p:nvSpPr>
        <p:spPr>
          <a:xfrm>
            <a:off x="7068312" y="1938528"/>
            <a:ext cx="4480560" cy="841248"/>
          </a:xfrm>
          <a:prstGeom prst="roundRect">
            <a:avLst/>
          </a:prstGeom>
          <a:solidFill>
            <a:srgbClr val="E6F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68312" y="1938528"/>
            <a:ext cx="146304" cy="841248"/>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34072" y="1938528"/>
            <a:ext cx="3931920" cy="841248"/>
          </a:xfrm>
          <a:prstGeom prst="rect">
            <a:avLst/>
          </a:prstGeom>
          <a:noFill/>
        </p:spPr>
        <p:txBody>
          <a:bodyPr wrap="square" anchor="ctr" lIns="0" rIns="0" tIns="0" bIns="0">
            <a:spAutoFit/>
          </a:bodyPr>
          <a:lstStyle/>
          <a:p>
            <a:pPr algn="l"/>
            <a:r>
              <a:rPr sz="1350" b="1">
                <a:solidFill>
                  <a:srgbClr val="1A2332"/>
                </a:solidFill>
                <a:latin typeface="Segoe UI"/>
              </a:rPr>
              <a:t>Full year, last 4 months set aside</a:t>
            </a:r>
          </a:p>
        </p:txBody>
      </p:sp>
      <p:sp>
        <p:nvSpPr>
          <p:cNvPr id="15" name="TextBox 14"/>
          <p:cNvSpPr txBox="1"/>
          <p:nvPr/>
        </p:nvSpPr>
        <p:spPr>
          <a:xfrm>
            <a:off x="640080" y="2907792"/>
            <a:ext cx="1783080" cy="841248"/>
          </a:xfrm>
          <a:prstGeom prst="rect">
            <a:avLst/>
          </a:prstGeom>
          <a:noFill/>
        </p:spPr>
        <p:txBody>
          <a:bodyPr wrap="square" anchor="ctr" lIns="0" rIns="0" tIns="0" bIns="0">
            <a:spAutoFit/>
          </a:bodyPr>
          <a:lstStyle/>
          <a:p>
            <a:pPr algn="l"/>
            <a:r>
              <a:rPr sz="1550" b="1">
                <a:solidFill>
                  <a:srgbClr val="1A2332"/>
                </a:solidFill>
                <a:latin typeface="Segoe UI"/>
              </a:rPr>
              <a:t>Effective rate</a:t>
            </a:r>
          </a:p>
        </p:txBody>
      </p:sp>
      <p:sp>
        <p:nvSpPr>
          <p:cNvPr id="16" name="Rounded Rectangle 15"/>
          <p:cNvSpPr/>
          <p:nvPr/>
        </p:nvSpPr>
        <p:spPr>
          <a:xfrm>
            <a:off x="2542032" y="2907792"/>
            <a:ext cx="4389120" cy="841248"/>
          </a:xfrm>
          <a:prstGeom prst="roundRect">
            <a:avLst/>
          </a:prstGeom>
          <a:solidFill>
            <a:srgbClr val="ECEDEA"/>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70632" y="2907792"/>
            <a:ext cx="3977639" cy="841248"/>
          </a:xfrm>
          <a:prstGeom prst="rect">
            <a:avLst/>
          </a:prstGeom>
          <a:noFill/>
        </p:spPr>
        <p:txBody>
          <a:bodyPr wrap="square" anchor="ctr" lIns="0" rIns="0" tIns="0" bIns="0">
            <a:spAutoFit/>
          </a:bodyPr>
          <a:lstStyle/>
          <a:p>
            <a:pPr algn="l"/>
            <a:r>
              <a:rPr sz="1350" b="0">
                <a:solidFill>
                  <a:srgbClr val="5E665E"/>
                </a:solidFill>
                <a:latin typeface="Segoe UI"/>
              </a:rPr>
              <a:t>Heavy 30 days, ranked monthly</a:t>
            </a:r>
          </a:p>
        </p:txBody>
      </p:sp>
      <p:sp>
        <p:nvSpPr>
          <p:cNvPr id="18" name="Rounded Rectangle 17"/>
          <p:cNvSpPr/>
          <p:nvPr/>
        </p:nvSpPr>
        <p:spPr>
          <a:xfrm>
            <a:off x="7068312" y="2907792"/>
            <a:ext cx="4480560" cy="841248"/>
          </a:xfrm>
          <a:prstGeom prst="roundRect">
            <a:avLst/>
          </a:prstGeom>
          <a:solidFill>
            <a:srgbClr val="E6F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068312" y="2907792"/>
            <a:ext cx="146304" cy="841248"/>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34072" y="2907792"/>
            <a:ext cx="3931920" cy="841248"/>
          </a:xfrm>
          <a:prstGeom prst="rect">
            <a:avLst/>
          </a:prstGeom>
          <a:noFill/>
        </p:spPr>
        <p:txBody>
          <a:bodyPr wrap="square" anchor="ctr" lIns="0" rIns="0" tIns="0" bIns="0">
            <a:spAutoFit/>
          </a:bodyPr>
          <a:lstStyle/>
          <a:p>
            <a:pPr algn="l"/>
            <a:r>
              <a:rPr sz="1350" b="1">
                <a:solidFill>
                  <a:srgbClr val="1A2332"/>
                </a:solidFill>
                <a:latin typeface="Segoe UI"/>
              </a:rPr>
              <a:t>90-day average, ranked weekly</a:t>
            </a:r>
          </a:p>
        </p:txBody>
      </p:sp>
      <p:sp>
        <p:nvSpPr>
          <p:cNvPr id="21" name="TextBox 20"/>
          <p:cNvSpPr txBox="1"/>
          <p:nvPr/>
        </p:nvSpPr>
        <p:spPr>
          <a:xfrm>
            <a:off x="640080" y="3877056"/>
            <a:ext cx="1783080" cy="841248"/>
          </a:xfrm>
          <a:prstGeom prst="rect">
            <a:avLst/>
          </a:prstGeom>
          <a:noFill/>
        </p:spPr>
        <p:txBody>
          <a:bodyPr wrap="square" anchor="ctr" lIns="0" rIns="0" tIns="0" bIns="0">
            <a:spAutoFit/>
          </a:bodyPr>
          <a:lstStyle/>
          <a:p>
            <a:pPr algn="l"/>
            <a:r>
              <a:rPr sz="1550" b="1">
                <a:solidFill>
                  <a:srgbClr val="1A2332"/>
                </a:solidFill>
                <a:latin typeface="Segoe UI"/>
              </a:rPr>
              <a:t>Weighting</a:t>
            </a:r>
          </a:p>
        </p:txBody>
      </p:sp>
      <p:sp>
        <p:nvSpPr>
          <p:cNvPr id="22" name="Rounded Rectangle 21"/>
          <p:cNvSpPr/>
          <p:nvPr/>
        </p:nvSpPr>
        <p:spPr>
          <a:xfrm>
            <a:off x="2542032" y="3877056"/>
            <a:ext cx="4389120" cy="841248"/>
          </a:xfrm>
          <a:prstGeom prst="roundRect">
            <a:avLst/>
          </a:prstGeom>
          <a:solidFill>
            <a:srgbClr val="ECEDEA"/>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70632" y="3877056"/>
            <a:ext cx="3977639" cy="841248"/>
          </a:xfrm>
          <a:prstGeom prst="rect">
            <a:avLst/>
          </a:prstGeom>
          <a:noFill/>
        </p:spPr>
        <p:txBody>
          <a:bodyPr wrap="square" anchor="ctr" lIns="0" rIns="0" tIns="0" bIns="0">
            <a:spAutoFit/>
          </a:bodyPr>
          <a:lstStyle/>
          <a:p>
            <a:pPr algn="l"/>
            <a:r>
              <a:rPr sz="1350" b="0">
                <a:solidFill>
                  <a:srgbClr val="5E665E"/>
                </a:solidFill>
                <a:latin typeface="Segoe UI"/>
              </a:rPr>
              <a:t>64% on close rate alone</a:t>
            </a:r>
          </a:p>
        </p:txBody>
      </p:sp>
      <p:sp>
        <p:nvSpPr>
          <p:cNvPr id="24" name="Rounded Rectangle 23"/>
          <p:cNvSpPr/>
          <p:nvPr/>
        </p:nvSpPr>
        <p:spPr>
          <a:xfrm>
            <a:off x="7068312" y="3877056"/>
            <a:ext cx="4480560" cy="841248"/>
          </a:xfrm>
          <a:prstGeom prst="roundRect">
            <a:avLst/>
          </a:prstGeom>
          <a:solidFill>
            <a:srgbClr val="E6F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68312" y="3877056"/>
            <a:ext cx="146304" cy="841248"/>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34072" y="3877056"/>
            <a:ext cx="3931920" cy="841248"/>
          </a:xfrm>
          <a:prstGeom prst="rect">
            <a:avLst/>
          </a:prstGeom>
          <a:noFill/>
        </p:spPr>
        <p:txBody>
          <a:bodyPr wrap="square" anchor="ctr" lIns="0" rIns="0" tIns="0" bIns="0">
            <a:spAutoFit/>
          </a:bodyPr>
          <a:lstStyle/>
          <a:p>
            <a:pPr algn="l"/>
            <a:r>
              <a:rPr sz="1350" b="1">
                <a:solidFill>
                  <a:srgbClr val="1A2332"/>
                </a:solidFill>
                <a:latin typeface="Segoe UI"/>
              </a:rPr>
              <a:t>Spread across 5 measures, with floors</a:t>
            </a:r>
          </a:p>
        </p:txBody>
      </p:sp>
      <p:sp>
        <p:nvSpPr>
          <p:cNvPr id="27" name="TextBox 26"/>
          <p:cNvSpPr txBox="1"/>
          <p:nvPr/>
        </p:nvSpPr>
        <p:spPr>
          <a:xfrm>
            <a:off x="640080" y="4846320"/>
            <a:ext cx="1783080" cy="841248"/>
          </a:xfrm>
          <a:prstGeom prst="rect">
            <a:avLst/>
          </a:prstGeom>
          <a:noFill/>
        </p:spPr>
        <p:txBody>
          <a:bodyPr wrap="square" anchor="ctr" lIns="0" rIns="0" tIns="0" bIns="0">
            <a:spAutoFit/>
          </a:bodyPr>
          <a:lstStyle/>
          <a:p>
            <a:pPr algn="l"/>
            <a:r>
              <a:rPr sz="1550" b="1">
                <a:solidFill>
                  <a:srgbClr val="1A2332"/>
                </a:solidFill>
                <a:latin typeface="Segoe UI"/>
              </a:rPr>
              <a:t>Sit rate</a:t>
            </a:r>
          </a:p>
        </p:txBody>
      </p:sp>
      <p:sp>
        <p:nvSpPr>
          <p:cNvPr id="28" name="Rounded Rectangle 27"/>
          <p:cNvSpPr/>
          <p:nvPr/>
        </p:nvSpPr>
        <p:spPr>
          <a:xfrm>
            <a:off x="2542032" y="4846320"/>
            <a:ext cx="4389120" cy="841248"/>
          </a:xfrm>
          <a:prstGeom prst="roundRect">
            <a:avLst/>
          </a:prstGeom>
          <a:solidFill>
            <a:srgbClr val="ECEDEA"/>
          </a:solidFill>
          <a:ln w="9525">
            <a:solidFill>
              <a:srgbClr val="D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0632" y="4846320"/>
            <a:ext cx="3977639" cy="841248"/>
          </a:xfrm>
          <a:prstGeom prst="rect">
            <a:avLst/>
          </a:prstGeom>
          <a:noFill/>
        </p:spPr>
        <p:txBody>
          <a:bodyPr wrap="square" anchor="ctr" lIns="0" rIns="0" tIns="0" bIns="0">
            <a:spAutoFit/>
          </a:bodyPr>
          <a:lstStyle/>
          <a:p>
            <a:pPr algn="l"/>
            <a:r>
              <a:rPr sz="1350" b="0">
                <a:solidFill>
                  <a:srgbClr val="5E665E"/>
                </a:solidFill>
                <a:latin typeface="Segoe UI"/>
              </a:rPr>
              <a:t>Scored directly, 8%</a:t>
            </a:r>
          </a:p>
        </p:txBody>
      </p:sp>
      <p:sp>
        <p:nvSpPr>
          <p:cNvPr id="30" name="Rounded Rectangle 29"/>
          <p:cNvSpPr/>
          <p:nvPr/>
        </p:nvSpPr>
        <p:spPr>
          <a:xfrm>
            <a:off x="7068312" y="4846320"/>
            <a:ext cx="4480560" cy="841248"/>
          </a:xfrm>
          <a:prstGeom prst="roundRect">
            <a:avLst/>
          </a:prstGeom>
          <a:solidFill>
            <a:srgbClr val="E6F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68312" y="4846320"/>
            <a:ext cx="146304" cy="841248"/>
          </a:xfrm>
          <a:prstGeom prst="rect">
            <a:avLst/>
          </a:prstGeom>
          <a:solidFill>
            <a:srgbClr val="5EB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34072" y="4846320"/>
            <a:ext cx="3931920" cy="841248"/>
          </a:xfrm>
          <a:prstGeom prst="rect">
            <a:avLst/>
          </a:prstGeom>
          <a:noFill/>
        </p:spPr>
        <p:txBody>
          <a:bodyPr wrap="square" anchor="ctr" lIns="0" rIns="0" tIns="0" bIns="0">
            <a:spAutoFit/>
          </a:bodyPr>
          <a:lstStyle/>
          <a:p>
            <a:pPr algn="l"/>
            <a:r>
              <a:rPr sz="1350" b="1">
                <a:solidFill>
                  <a:srgbClr val="1A2332"/>
                </a:solidFill>
                <a:latin typeface="Segoe UI"/>
              </a:rPr>
              <a:t>Not scored on its own</a:t>
            </a:r>
          </a:p>
        </p:txBody>
      </p:sp>
      <p:sp>
        <p:nvSpPr>
          <p:cNvPr id="33" name="Rounded Rectangle 32"/>
          <p:cNvSpPr/>
          <p:nvPr/>
        </p:nvSpPr>
        <p:spPr>
          <a:xfrm>
            <a:off x="640080" y="5925312"/>
            <a:ext cx="10908792" cy="713232"/>
          </a:xfrm>
          <a:prstGeom prst="roundRect">
            <a:avLst/>
          </a:prstGeom>
          <a:solidFill>
            <a:srgbClr val="4F9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925312"/>
            <a:ext cx="10908792" cy="713232"/>
          </a:xfrm>
          <a:prstGeom prst="rect">
            <a:avLst/>
          </a:prstGeom>
          <a:noFill/>
        </p:spPr>
        <p:txBody>
          <a:bodyPr wrap="square" anchor="ctr" lIns="0" rIns="0" tIns="0" bIns="0">
            <a:spAutoFit/>
          </a:bodyPr>
          <a:lstStyle/>
          <a:p>
            <a:pPr algn="ctr"/>
            <a:r>
              <a:rPr sz="1550" b="1">
                <a:solidFill>
                  <a:srgbClr val="FFFFFF"/>
                </a:solidFill>
                <a:latin typeface="Segoe UI"/>
              </a:rPr>
              <a:t>A steadier score rewards consistency and gives every rep a fair shot to climb.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